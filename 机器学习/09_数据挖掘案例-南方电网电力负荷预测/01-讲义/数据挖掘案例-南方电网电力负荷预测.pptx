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  <p:sldMasterId id="2147483676" r:id="rId9"/>
    <p:sldMasterId id="2147483692" r:id="rId10"/>
    <p:sldMasterId id="2147483708" r:id="rId11"/>
    <p:sldMasterId id="2147483724" r:id="rId12"/>
    <p:sldMasterId id="2147483740" r:id="rId13"/>
    <p:sldMasterId id="2147483756" r:id="rId14"/>
    <p:sldMasterId id="2147483772" r:id="rId15"/>
    <p:sldMasterId id="2147483788" r:id="rId16"/>
    <p:sldMasterId id="2147483804" r:id="rId17"/>
    <p:sldMasterId id="2147483820" r:id="rId18"/>
    <p:sldMasterId id="2147483836" r:id="rId19"/>
    <p:sldMasterId id="2147483852" r:id="rId20"/>
    <p:sldMasterId id="2147483868" r:id="rId21"/>
    <p:sldMasterId id="2147483884" r:id="rId22"/>
    <p:sldMasterId id="2147483900" r:id="rId23"/>
    <p:sldMasterId id="2147483916" r:id="rId24"/>
    <p:sldMasterId id="2147483932" r:id="rId25"/>
    <p:sldMasterId id="2147483948" r:id="rId26"/>
    <p:sldMasterId id="2147483964" r:id="rId27"/>
    <p:sldMasterId id="2147483980" r:id="rId28"/>
    <p:sldMasterId id="2147483996" r:id="rId29"/>
    <p:sldMasterId id="2147484012" r:id="rId30"/>
  </p:sldMasterIdLst>
  <p:notesMasterIdLst>
    <p:notesMasterId r:id="rId34"/>
  </p:notesMasterIdLst>
  <p:handoutMasterIdLst>
    <p:handoutMasterId r:id="rId65"/>
  </p:handoutMasterIdLst>
  <p:sldIdLst>
    <p:sldId id="1669" r:id="rId31"/>
    <p:sldId id="1665" r:id="rId32"/>
    <p:sldId id="1447" r:id="rId33"/>
    <p:sldId id="1618" r:id="rId35"/>
    <p:sldId id="1671" r:id="rId36"/>
    <p:sldId id="1716" r:id="rId37"/>
    <p:sldId id="1623" r:id="rId38"/>
    <p:sldId id="1624" r:id="rId39"/>
    <p:sldId id="1736" r:id="rId40"/>
    <p:sldId id="1620" r:id="rId41"/>
    <p:sldId id="1717" r:id="rId42"/>
    <p:sldId id="1718" r:id="rId43"/>
    <p:sldId id="1719" r:id="rId44"/>
    <p:sldId id="1721" r:id="rId45"/>
    <p:sldId id="1722" r:id="rId46"/>
    <p:sldId id="1723" r:id="rId47"/>
    <p:sldId id="1724" r:id="rId48"/>
    <p:sldId id="1725" r:id="rId49"/>
    <p:sldId id="1726" r:id="rId50"/>
    <p:sldId id="1727" r:id="rId51"/>
    <p:sldId id="1728" r:id="rId52"/>
    <p:sldId id="1729" r:id="rId53"/>
    <p:sldId id="1730" r:id="rId54"/>
    <p:sldId id="1731" r:id="rId55"/>
    <p:sldId id="1732" r:id="rId56"/>
    <p:sldId id="1733" r:id="rId57"/>
    <p:sldId id="1735" r:id="rId58"/>
    <p:sldId id="1734" r:id="rId59"/>
    <p:sldId id="1760" r:id="rId60"/>
    <p:sldId id="1737" r:id="rId61"/>
    <p:sldId id="1738" r:id="rId62"/>
    <p:sldId id="1739" r:id="rId63"/>
    <p:sldId id="1670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B60206"/>
    <a:srgbClr val="8A8A8A"/>
    <a:srgbClr val="4C5252"/>
    <a:srgbClr val="F9F9F9"/>
    <a:srgbClr val="48504F"/>
    <a:srgbClr val="AD2B26"/>
    <a:srgbClr val="49504F"/>
    <a:srgbClr val="B70006"/>
    <a:srgbClr val="FFF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6" autoAdjust="0"/>
    <p:restoredTop sz="92394" autoAdjust="0"/>
  </p:normalViewPr>
  <p:slideViewPr>
    <p:cSldViewPr snapToGrid="0">
      <p:cViewPr varScale="1">
        <p:scale>
          <a:sx n="114" d="100"/>
          <a:sy n="114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33.xml"/><Relationship Id="rId63" Type="http://schemas.openxmlformats.org/officeDocument/2006/relationships/slide" Target="slides/slide32.xml"/><Relationship Id="rId62" Type="http://schemas.openxmlformats.org/officeDocument/2006/relationships/slide" Target="slides/slide31.xml"/><Relationship Id="rId61" Type="http://schemas.openxmlformats.org/officeDocument/2006/relationships/slide" Target="slides/slide30.xml"/><Relationship Id="rId60" Type="http://schemas.openxmlformats.org/officeDocument/2006/relationships/slide" Target="slides/slide2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8.xml"/><Relationship Id="rId58" Type="http://schemas.openxmlformats.org/officeDocument/2006/relationships/slide" Target="slides/slide27.xml"/><Relationship Id="rId57" Type="http://schemas.openxmlformats.org/officeDocument/2006/relationships/slide" Target="slides/slide26.xml"/><Relationship Id="rId56" Type="http://schemas.openxmlformats.org/officeDocument/2006/relationships/slide" Target="slides/slide25.xml"/><Relationship Id="rId55" Type="http://schemas.openxmlformats.org/officeDocument/2006/relationships/slide" Target="slides/slide24.xml"/><Relationship Id="rId54" Type="http://schemas.openxmlformats.org/officeDocument/2006/relationships/slide" Target="slides/slide23.xml"/><Relationship Id="rId53" Type="http://schemas.openxmlformats.org/officeDocument/2006/relationships/slide" Target="slides/slide22.xml"/><Relationship Id="rId52" Type="http://schemas.openxmlformats.org/officeDocument/2006/relationships/slide" Target="slides/slide21.xml"/><Relationship Id="rId51" Type="http://schemas.openxmlformats.org/officeDocument/2006/relationships/slide" Target="slides/slide20.xml"/><Relationship Id="rId50" Type="http://schemas.openxmlformats.org/officeDocument/2006/relationships/slide" Target="slides/slide1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8.xml"/><Relationship Id="rId48" Type="http://schemas.openxmlformats.org/officeDocument/2006/relationships/slide" Target="slides/slide17.xml"/><Relationship Id="rId47" Type="http://schemas.openxmlformats.org/officeDocument/2006/relationships/slide" Target="slides/slide16.xml"/><Relationship Id="rId46" Type="http://schemas.openxmlformats.org/officeDocument/2006/relationships/slide" Target="slides/slide15.xml"/><Relationship Id="rId45" Type="http://schemas.openxmlformats.org/officeDocument/2006/relationships/slide" Target="slides/slide14.xml"/><Relationship Id="rId44" Type="http://schemas.openxmlformats.org/officeDocument/2006/relationships/slide" Target="slides/slide13.xml"/><Relationship Id="rId43" Type="http://schemas.openxmlformats.org/officeDocument/2006/relationships/slide" Target="slides/slide12.xml"/><Relationship Id="rId42" Type="http://schemas.openxmlformats.org/officeDocument/2006/relationships/slide" Target="slides/slide11.xml"/><Relationship Id="rId41" Type="http://schemas.openxmlformats.org/officeDocument/2006/relationships/slide" Target="slides/slide10.xml"/><Relationship Id="rId40" Type="http://schemas.openxmlformats.org/officeDocument/2006/relationships/slide" Target="slides/slide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8.xml"/><Relationship Id="rId38" Type="http://schemas.openxmlformats.org/officeDocument/2006/relationships/slide" Target="slides/slide7.xml"/><Relationship Id="rId37" Type="http://schemas.openxmlformats.org/officeDocument/2006/relationships/slide" Target="slides/slide6.xml"/><Relationship Id="rId36" Type="http://schemas.openxmlformats.org/officeDocument/2006/relationships/slide" Target="slides/slide5.xml"/><Relationship Id="rId35" Type="http://schemas.openxmlformats.org/officeDocument/2006/relationships/slide" Target="slides/slide4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.xml"/><Relationship Id="rId32" Type="http://schemas.openxmlformats.org/officeDocument/2006/relationships/slide" Target="slides/slide2.xml"/><Relationship Id="rId31" Type="http://schemas.openxmlformats.org/officeDocument/2006/relationships/slide" Target="slides/slide1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8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8.xml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8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9.xml"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9.xml"/></Relationships>
</file>

<file path=ppt/slideLayouts/_rels/slideLayout3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9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8" Type="http://schemas.openxmlformats.org/officeDocument/2006/relationships/theme" Target="../theme/theme8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8" Type="http://schemas.openxmlformats.org/officeDocument/2006/relationships/theme" Target="../theme/theme9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8" Type="http://schemas.openxmlformats.org/officeDocument/2006/relationships/theme" Target="../theme/theme10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8" Type="http://schemas.openxmlformats.org/officeDocument/2006/relationships/theme" Target="../theme/theme11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8" Type="http://schemas.openxmlformats.org/officeDocument/2006/relationships/theme" Target="../theme/theme12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8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8" Type="http://schemas.openxmlformats.org/officeDocument/2006/relationships/theme" Target="../theme/theme13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9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3.xml"/><Relationship Id="rId18" Type="http://schemas.openxmlformats.org/officeDocument/2006/relationships/theme" Target="../theme/theme14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2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8" Type="http://schemas.openxmlformats.org/officeDocument/2006/relationships/theme" Target="../theme/theme15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41.xml"/><Relationship Id="rId14" Type="http://schemas.openxmlformats.org/officeDocument/2006/relationships/slideLayout" Target="../slideLayouts/slideLayout140.xml"/><Relationship Id="rId13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27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3.xml"/><Relationship Id="rId18" Type="http://schemas.openxmlformats.org/officeDocument/2006/relationships/theme" Target="../theme/theme1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56.xml"/><Relationship Id="rId14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42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58.xml"/><Relationship Id="rId18" Type="http://schemas.openxmlformats.org/officeDocument/2006/relationships/theme" Target="../theme/theme17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5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0.xml"/><Relationship Id="rId8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73.xml"/><Relationship Id="rId18" Type="http://schemas.openxmlformats.org/officeDocument/2006/relationships/theme" Target="../theme/theme18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86.xml"/><Relationship Id="rId14" Type="http://schemas.openxmlformats.org/officeDocument/2006/relationships/slideLayout" Target="../slideLayouts/slideLayout185.xml"/><Relationship Id="rId13" Type="http://schemas.openxmlformats.org/officeDocument/2006/relationships/slideLayout" Target="../slideLayouts/slideLayout184.xml"/><Relationship Id="rId12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7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5.xml"/><Relationship Id="rId8" Type="http://schemas.openxmlformats.org/officeDocument/2006/relationships/slideLayout" Target="../slideLayouts/slideLayout194.xml"/><Relationship Id="rId7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88.xml"/><Relationship Id="rId18" Type="http://schemas.openxmlformats.org/officeDocument/2006/relationships/theme" Target="../theme/theme19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1.xml"/><Relationship Id="rId14" Type="http://schemas.openxmlformats.org/officeDocument/2006/relationships/slideLayout" Target="../slideLayouts/slideLayout200.xml"/><Relationship Id="rId13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87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203.xml"/><Relationship Id="rId18" Type="http://schemas.openxmlformats.org/officeDocument/2006/relationships/theme" Target="../theme/theme20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16.xml"/><Relationship Id="rId14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02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5.xml"/><Relationship Id="rId8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8" Type="http://schemas.openxmlformats.org/officeDocument/2006/relationships/theme" Target="../theme/theme21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31.xml"/><Relationship Id="rId14" Type="http://schemas.openxmlformats.org/officeDocument/2006/relationships/slideLayout" Target="../slideLayouts/slideLayout230.xml"/><Relationship Id="rId13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26.xml"/><Relationship Id="rId1" Type="http://schemas.openxmlformats.org/officeDocument/2006/relationships/slideLayout" Target="../slideLayouts/slideLayout217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8" Type="http://schemas.openxmlformats.org/officeDocument/2006/relationships/theme" Target="../theme/theme22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46.xml"/><Relationship Id="rId14" Type="http://schemas.openxmlformats.org/officeDocument/2006/relationships/slideLayout" Target="../slideLayouts/slideLayout245.xml"/><Relationship Id="rId13" Type="http://schemas.openxmlformats.org/officeDocument/2006/relationships/slideLayout" Target="../slideLayouts/slideLayout244.xml"/><Relationship Id="rId12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5.xml"/><Relationship Id="rId8" Type="http://schemas.openxmlformats.org/officeDocument/2006/relationships/slideLayout" Target="../slideLayouts/slideLayout254.xml"/><Relationship Id="rId7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2.xml"/><Relationship Id="rId5" Type="http://schemas.openxmlformats.org/officeDocument/2006/relationships/slideLayout" Target="../slideLayouts/slideLayout251.xml"/><Relationship Id="rId4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48.xml"/><Relationship Id="rId18" Type="http://schemas.openxmlformats.org/officeDocument/2006/relationships/theme" Target="../theme/theme23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260.xml"/><Relationship Id="rId13" Type="http://schemas.openxmlformats.org/officeDocument/2006/relationships/slideLayout" Target="../slideLayouts/slideLayout259.xml"/><Relationship Id="rId12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57.xml"/><Relationship Id="rId10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47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0.xml"/><Relationship Id="rId8" Type="http://schemas.openxmlformats.org/officeDocument/2006/relationships/slideLayout" Target="../slideLayouts/slideLayout269.xml"/><Relationship Id="rId7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4.xml"/><Relationship Id="rId2" Type="http://schemas.openxmlformats.org/officeDocument/2006/relationships/slideLayout" Target="../slideLayouts/slideLayout263.xml"/><Relationship Id="rId18" Type="http://schemas.openxmlformats.org/officeDocument/2006/relationships/theme" Target="../theme/theme24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76.xml"/><Relationship Id="rId14" Type="http://schemas.openxmlformats.org/officeDocument/2006/relationships/slideLayout" Target="../slideLayouts/slideLayout275.xml"/><Relationship Id="rId13" Type="http://schemas.openxmlformats.org/officeDocument/2006/relationships/slideLayout" Target="../slideLayouts/slideLayout274.xml"/><Relationship Id="rId12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2.xml"/><Relationship Id="rId10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62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5.xml"/><Relationship Id="rId8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83.xml"/><Relationship Id="rId6" Type="http://schemas.openxmlformats.org/officeDocument/2006/relationships/slideLayout" Target="../slideLayouts/slideLayout282.xml"/><Relationship Id="rId5" Type="http://schemas.openxmlformats.org/officeDocument/2006/relationships/slideLayout" Target="../slideLayouts/slideLayout281.xml"/><Relationship Id="rId4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78.xml"/><Relationship Id="rId18" Type="http://schemas.openxmlformats.org/officeDocument/2006/relationships/theme" Target="../theme/theme25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91.xml"/><Relationship Id="rId14" Type="http://schemas.openxmlformats.org/officeDocument/2006/relationships/slideLayout" Target="../slideLayouts/slideLayout290.xml"/><Relationship Id="rId13" Type="http://schemas.openxmlformats.org/officeDocument/2006/relationships/slideLayout" Target="../slideLayouts/slideLayout289.xml"/><Relationship Id="rId12" Type="http://schemas.openxmlformats.org/officeDocument/2006/relationships/slideLayout" Target="../slideLayouts/slideLayout288.xml"/><Relationship Id="rId11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6.xml"/><Relationship Id="rId1" Type="http://schemas.openxmlformats.org/officeDocument/2006/relationships/slideLayout" Target="../slideLayouts/slideLayout27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" Type="http://schemas.openxmlformats.org/officeDocument/2006/relationships/slideLayout" Target="../slideLayouts/slideLayout293.xml"/><Relationship Id="rId18" Type="http://schemas.openxmlformats.org/officeDocument/2006/relationships/theme" Target="../theme/theme2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308.xml"/><Relationship Id="rId18" Type="http://schemas.openxmlformats.org/officeDocument/2006/relationships/theme" Target="../theme/theme27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21.xml"/><Relationship Id="rId14" Type="http://schemas.openxmlformats.org/officeDocument/2006/relationships/slideLayout" Target="../slideLayouts/slideLayout320.xml"/><Relationship Id="rId13" Type="http://schemas.openxmlformats.org/officeDocument/2006/relationships/slideLayout" Target="../slideLayouts/slideLayout319.xml"/><Relationship Id="rId12" Type="http://schemas.openxmlformats.org/officeDocument/2006/relationships/slideLayout" Target="../slideLayouts/slideLayout318.xml"/><Relationship Id="rId11" Type="http://schemas.openxmlformats.org/officeDocument/2006/relationships/slideLayout" Target="../slideLayouts/slideLayout317.xml"/><Relationship Id="rId10" Type="http://schemas.openxmlformats.org/officeDocument/2006/relationships/slideLayout" Target="../slideLayouts/slideLayout316.xml"/><Relationship Id="rId1" Type="http://schemas.openxmlformats.org/officeDocument/2006/relationships/slideLayout" Target="../slideLayouts/slideLayout30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0.xml"/><Relationship Id="rId8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28.xml"/><Relationship Id="rId6" Type="http://schemas.openxmlformats.org/officeDocument/2006/relationships/slideLayout" Target="../slideLayouts/slideLayout327.xml"/><Relationship Id="rId5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24.xml"/><Relationship Id="rId2" Type="http://schemas.openxmlformats.org/officeDocument/2006/relationships/slideLayout" Target="../slideLayouts/slideLayout323.xml"/><Relationship Id="rId18" Type="http://schemas.openxmlformats.org/officeDocument/2006/relationships/theme" Target="../theme/theme28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36.xml"/><Relationship Id="rId14" Type="http://schemas.openxmlformats.org/officeDocument/2006/relationships/slideLayout" Target="../slideLayouts/slideLayout335.xml"/><Relationship Id="rId13" Type="http://schemas.openxmlformats.org/officeDocument/2006/relationships/slideLayout" Target="../slideLayouts/slideLayout334.xml"/><Relationship Id="rId12" Type="http://schemas.openxmlformats.org/officeDocument/2006/relationships/slideLayout" Target="../slideLayouts/slideLayout333.xml"/><Relationship Id="rId11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31.xml"/><Relationship Id="rId1" Type="http://schemas.openxmlformats.org/officeDocument/2006/relationships/slideLayout" Target="../slideLayouts/slideLayout322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5.xml"/><Relationship Id="rId8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3.xml"/><Relationship Id="rId6" Type="http://schemas.openxmlformats.org/officeDocument/2006/relationships/slideLayout" Target="../slideLayouts/slideLayout342.xml"/><Relationship Id="rId5" Type="http://schemas.openxmlformats.org/officeDocument/2006/relationships/slideLayout" Target="../slideLayouts/slideLayout341.xml"/><Relationship Id="rId4" Type="http://schemas.openxmlformats.org/officeDocument/2006/relationships/slideLayout" Target="../slideLayouts/slideLayout340.xml"/><Relationship Id="rId3" Type="http://schemas.openxmlformats.org/officeDocument/2006/relationships/slideLayout" Target="../slideLayouts/slideLayout339.xml"/><Relationship Id="rId2" Type="http://schemas.openxmlformats.org/officeDocument/2006/relationships/slideLayout" Target="../slideLayouts/slideLayout338.xml"/><Relationship Id="rId18" Type="http://schemas.openxmlformats.org/officeDocument/2006/relationships/theme" Target="../theme/theme29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51.xml"/><Relationship Id="rId14" Type="http://schemas.openxmlformats.org/officeDocument/2006/relationships/slideLayout" Target="../slideLayouts/slideLayout350.xml"/><Relationship Id="rId13" Type="http://schemas.openxmlformats.org/officeDocument/2006/relationships/slideLayout" Target="../slideLayouts/slideLayout349.xml"/><Relationship Id="rId12" Type="http://schemas.openxmlformats.org/officeDocument/2006/relationships/slideLayout" Target="../slideLayouts/slideLayout348.xml"/><Relationship Id="rId11" Type="http://schemas.openxmlformats.org/officeDocument/2006/relationships/slideLayout" Target="../slideLayouts/slideLayout347.xml"/><Relationship Id="rId10" Type="http://schemas.openxmlformats.org/officeDocument/2006/relationships/slideLayout" Target="../slideLayouts/slideLayout346.xml"/><Relationship Id="rId1" Type="http://schemas.openxmlformats.org/officeDocument/2006/relationships/slideLayout" Target="../slideLayouts/slideLayout3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6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6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91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6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41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11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26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南方电网</a:t>
            </a:r>
            <a:r>
              <a:rPr kumimoji="1" lang="zh-CN" altLang="en-US" dirty="0"/>
              <a:t>电力负荷预测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50115" y="1090766"/>
            <a:ext cx="6420620" cy="4497463"/>
          </a:xfrm>
        </p:spPr>
        <p:txBody>
          <a:bodyPr anchor="t"/>
          <a:lstStyle/>
          <a:p>
            <a:r>
              <a:rPr kumimoji="1"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时间序列预测简介</a:t>
            </a:r>
            <a:endParaRPr kumimoji="1"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电力负荷预测案例介绍</a:t>
            </a:r>
            <a:endParaRPr kumimoji="1" lang="zh-CN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电力负荷预测案例模型开发</a:t>
            </a:r>
            <a:endParaRPr kumimoji="1" lang="zh-CN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改进方向</a:t>
            </a:r>
            <a:endParaRPr kumimoji="1"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时间序列预测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概念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01312" y="1292715"/>
            <a:ext cx="40162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什么是时间序列预测？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1610360" y="1864360"/>
            <a:ext cx="8701405" cy="10020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时间序列预测是一种</a:t>
            </a: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根据历史时间序列数据来预测未来值的方法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任务比较好理解，但预测未来并非易事。</a:t>
            </a:r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810" y="2866390"/>
            <a:ext cx="8734425" cy="28746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63980" y="5889625"/>
            <a:ext cx="609600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预测非常困难，特别是关于未来。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——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物理学家尼尔斯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·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波尔（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Neils Bohr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我可以算准天体的运行轨迹，但算不清人性的复杂。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——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牛顿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哲学家只是解释世界，问题在于改变世界。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——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卡尔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·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马克思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时序预测应用场景</a:t>
            </a:r>
            <a:endParaRPr kumimoji="0" 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矩形 7"/>
          <p:cNvSpPr/>
          <p:nvPr>
            <p:custDataLst>
              <p:tags r:id="rId1"/>
            </p:custDataLst>
          </p:nvPr>
        </p:nvSpPr>
        <p:spPr>
          <a:xfrm>
            <a:off x="330200" y="2804795"/>
            <a:ext cx="3110230" cy="1728470"/>
          </a:xfrm>
          <a:prstGeom prst="rect">
            <a:avLst/>
          </a:prstGeom>
          <a:noFill/>
          <a:ln w="9525">
            <a:noFill/>
          </a:ln>
        </p:spPr>
        <p:txBody>
          <a:bodyPr wrap="none" lIns="72000" tIns="0" rIns="72000" bIns="0" anchor="t"/>
          <a:lstStyle/>
          <a:p>
            <a:pPr algn="r" defTabSz="914400" fontAlgn="base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股票价格预测、汇率预测、利率预测</a:t>
            </a:r>
            <a:endParaRPr lang="zh-CN" altLang="en-US" sz="12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r" defTabSz="914400" fontAlgn="base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企业资金流量预测、金融机构资金流动性预测</a:t>
            </a:r>
            <a:endParaRPr lang="zh-CN" altLang="en-US" sz="12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r" defTabSz="914400" fontAlgn="base"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GDP</a:t>
            </a:r>
            <a:r>
              <a:rPr lang="zh-CN" altLang="en-US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预测、</a:t>
            </a:r>
            <a:r>
              <a:rPr lang="en-US" altLang="zh-CN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CPI</a:t>
            </a:r>
            <a:r>
              <a:rPr lang="zh-CN" altLang="en-US" sz="12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</a:t>
            </a:r>
            <a:endParaRPr lang="zh-CN" altLang="en-US" sz="12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 rot="18073502" flipH="1">
            <a:off x="3851394" y="2975735"/>
            <a:ext cx="1717411" cy="814922"/>
          </a:xfrm>
          <a:prstGeom prst="parallelogram">
            <a:avLst>
              <a:gd name="adj" fmla="val 59953"/>
            </a:avLst>
          </a:prstGeom>
          <a:solidFill>
            <a:srgbClr val="4276AA">
              <a:lumMod val="20000"/>
              <a:lumOff val="80000"/>
            </a:srgbClr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  <a:r>
              <a:rPr lang="zh-CN" b="1">
                <a:solidFill>
                  <a:srgbClr val="C00000"/>
                </a:solidFill>
              </a:rPr>
              <a:t>金融</a:t>
            </a:r>
            <a:endParaRPr lang="zh-CN" b="1">
              <a:solidFill>
                <a:srgbClr val="C00000"/>
              </a:solidFill>
            </a:endParaRPr>
          </a:p>
        </p:txBody>
      </p:sp>
      <p:sp>
        <p:nvSpPr>
          <p:cNvPr id="8" name="流程图: 决策 9"/>
          <p:cNvSpPr/>
          <p:nvPr>
            <p:custDataLst>
              <p:tags r:id="rId3"/>
            </p:custDataLst>
          </p:nvPr>
        </p:nvSpPr>
        <p:spPr>
          <a:xfrm rot="16200000">
            <a:off x="4454841" y="3268821"/>
            <a:ext cx="2096873" cy="1277782"/>
          </a:xfrm>
          <a:prstGeom prst="flowChartDecision">
            <a:avLst/>
          </a:prstGeom>
          <a:solidFill>
            <a:srgbClr val="4276AA"/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</a:p>
        </p:txBody>
      </p:sp>
      <p:sp>
        <p:nvSpPr>
          <p:cNvPr id="9" name="平行四边形 8"/>
          <p:cNvSpPr/>
          <p:nvPr>
            <p:custDataLst>
              <p:tags r:id="rId4"/>
            </p:custDataLst>
          </p:nvPr>
        </p:nvSpPr>
        <p:spPr>
          <a:xfrm rot="3480000" flipH="1">
            <a:off x="6370025" y="2555765"/>
            <a:ext cx="1717411" cy="814922"/>
          </a:xfrm>
          <a:prstGeom prst="parallelogram">
            <a:avLst>
              <a:gd name="adj" fmla="val 59953"/>
            </a:avLst>
          </a:prstGeom>
          <a:solidFill>
            <a:srgbClr val="178AA1">
              <a:lumMod val="20000"/>
              <a:lumOff val="80000"/>
            </a:srgbClr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  <a:r>
              <a:rPr lang="zh-CN" b="1">
                <a:solidFill>
                  <a:srgbClr val="C00000"/>
                </a:solidFill>
              </a:rPr>
              <a:t>交通</a:t>
            </a:r>
            <a:endParaRPr lang="zh-CN" b="1">
              <a:solidFill>
                <a:srgbClr val="C00000"/>
              </a:solidFill>
            </a:endParaRPr>
          </a:p>
        </p:txBody>
      </p:sp>
      <p:sp>
        <p:nvSpPr>
          <p:cNvPr id="12" name="平行四边形 11"/>
          <p:cNvSpPr/>
          <p:nvPr>
            <p:custDataLst>
              <p:tags r:id="rId5"/>
            </p:custDataLst>
          </p:nvPr>
        </p:nvSpPr>
        <p:spPr>
          <a:xfrm rot="10800000" flipV="1">
            <a:off x="5503278" y="2859573"/>
            <a:ext cx="1834765" cy="1048437"/>
          </a:xfrm>
          <a:prstGeom prst="parallelogram">
            <a:avLst>
              <a:gd name="adj" fmla="val 61067"/>
            </a:avLst>
          </a:prstGeom>
          <a:solidFill>
            <a:srgbClr val="178AA1"/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</a:p>
        </p:txBody>
      </p:sp>
      <p:sp>
        <p:nvSpPr>
          <p:cNvPr id="20" name="平行四边形 19"/>
          <p:cNvSpPr/>
          <p:nvPr>
            <p:custDataLst>
              <p:tags r:id="rId6"/>
            </p:custDataLst>
          </p:nvPr>
        </p:nvSpPr>
        <p:spPr>
          <a:xfrm>
            <a:off x="5503278" y="3908010"/>
            <a:ext cx="1834765" cy="1048437"/>
          </a:xfrm>
          <a:prstGeom prst="parallelogram">
            <a:avLst>
              <a:gd name="adj" fmla="val 61067"/>
            </a:avLst>
          </a:prstGeom>
          <a:solidFill>
            <a:srgbClr val="5268A5"/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</a:p>
        </p:txBody>
      </p:sp>
      <p:sp>
        <p:nvSpPr>
          <p:cNvPr id="21" name="平行四边形 20"/>
          <p:cNvSpPr/>
          <p:nvPr>
            <p:custDataLst>
              <p:tags r:id="rId7"/>
            </p:custDataLst>
          </p:nvPr>
        </p:nvSpPr>
        <p:spPr>
          <a:xfrm flipH="1">
            <a:off x="5503278" y="4956446"/>
            <a:ext cx="1678690" cy="814922"/>
          </a:xfrm>
          <a:prstGeom prst="parallelogram">
            <a:avLst>
              <a:gd name="adj" fmla="val 59953"/>
            </a:avLst>
          </a:prstGeom>
          <a:solidFill>
            <a:srgbClr val="5268A5">
              <a:lumMod val="20000"/>
              <a:lumOff val="80000"/>
            </a:srgbClr>
          </a:solidFill>
          <a:ln w="76200"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 fontAlgn="base"/>
            <a:r>
              <a:rPr lang="zh-CN" b="1">
                <a:solidFill>
                  <a:srgbClr val="C00000"/>
                </a:solidFill>
              </a:rPr>
              <a:t>能源</a:t>
            </a:r>
            <a:endParaRPr lang="zh-CN" b="1">
              <a:solidFill>
                <a:srgbClr val="C00000"/>
              </a:solidFill>
            </a:endParaRPr>
          </a:p>
        </p:txBody>
      </p:sp>
      <p:sp>
        <p:nvSpPr>
          <p:cNvPr id="22" name="矩形 16"/>
          <p:cNvSpPr/>
          <p:nvPr>
            <p:custDataLst>
              <p:tags r:id="rId8"/>
            </p:custDataLst>
          </p:nvPr>
        </p:nvSpPr>
        <p:spPr>
          <a:xfrm>
            <a:off x="8211341" y="2357397"/>
            <a:ext cx="2831375" cy="905468"/>
          </a:xfrm>
          <a:prstGeom prst="rect">
            <a:avLst/>
          </a:prstGeom>
          <a:noFill/>
          <a:ln w="9525">
            <a:noFill/>
          </a:ln>
        </p:spPr>
        <p:txBody>
          <a:bodyPr wrap="none" lIns="72000" tIns="0" rIns="72000" bIns="0" anchor="t"/>
          <a:lstStyle/>
          <a:p>
            <a:pPr algn="l" defTabSz="914400" fontAlgn="base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交通流量预测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defTabSz="914400" fontAlgn="base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行驶速度预测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defTabSz="914400" fontAlgn="base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交通运行指数预测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23" name="直接连接符 18"/>
          <p:cNvCxnSpPr/>
          <p:nvPr>
            <p:custDataLst>
              <p:tags r:id="rId9"/>
            </p:custDataLst>
          </p:nvPr>
        </p:nvCxnSpPr>
        <p:spPr>
          <a:xfrm rot="16200000" flipH="1">
            <a:off x="7130141" y="4654425"/>
            <a:ext cx="0" cy="993632"/>
          </a:xfrm>
          <a:prstGeom prst="line">
            <a:avLst/>
          </a:prstGeom>
          <a:solidFill>
            <a:srgbClr val="178AA1"/>
          </a:solidFill>
          <a:ln w="28575">
            <a:solidFill>
              <a:srgbClr val="5268A5"/>
            </a:solidFill>
            <a:prstDash val="sysDash"/>
            <a:headEnd type="oval" w="med" len="med"/>
            <a:tailEnd type="oval" w="med" len="med"/>
          </a:ln>
        </p:spPr>
        <p:style>
          <a:lnRef idx="1">
            <a:srgbClr val="4276AA"/>
          </a:lnRef>
          <a:fillRef idx="0">
            <a:srgbClr val="4276AA"/>
          </a:fillRef>
          <a:effectRef idx="0">
            <a:srgbClr val="4276AA"/>
          </a:effectRef>
          <a:fontRef idx="minor">
            <a:srgbClr val="000000"/>
          </a:fontRef>
        </p:style>
      </p:cxn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7758430" y="4330700"/>
            <a:ext cx="3410585" cy="1440180"/>
          </a:xfrm>
          <a:prstGeom prst="rect">
            <a:avLst/>
          </a:prstGeom>
        </p:spPr>
        <p:txBody>
          <a:bodyPr wrap="none" lIns="72000" tIns="0" rIns="72000" bIns="0">
            <a:normAutofit/>
          </a:bodyPr>
          <a:lstStyle/>
          <a:p>
            <a:pPr lvl="0" algn="l" defTabSz="914400" fontAlgn="base">
              <a:lnSpc>
                <a:spcPct val="150000"/>
              </a:lnSpc>
              <a:defRPr/>
            </a:pPr>
            <a:r>
              <a:rPr lang="zh-CN" altLang="en-US" sz="1200" strike="noStrike" noProof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</a:t>
            </a:r>
            <a:endParaRPr lang="zh-CN" altLang="en-US" sz="1200" strike="noStrike" noProof="1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 algn="l" defTabSz="914400" fontAlgn="base">
              <a:lnSpc>
                <a:spcPct val="150000"/>
              </a:lnSpc>
              <a:defRPr/>
            </a:pPr>
            <a:r>
              <a:rPr lang="zh-CN" altLang="en-US" sz="1200" strike="noStrike" noProof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风力发电功率预测、光伏发电功率预测</a:t>
            </a:r>
            <a:endParaRPr lang="zh-CN" altLang="en-US" sz="1200" strike="noStrike" noProof="1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 algn="l" defTabSz="914400" fontAlgn="base">
              <a:lnSpc>
                <a:spcPct val="150000"/>
              </a:lnSpc>
              <a:defRPr/>
            </a:pPr>
            <a:r>
              <a:rPr lang="zh-CN" altLang="en-US" sz="1200" strike="noStrike" noProof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工业能源消费预测、居民能源消费预测</a:t>
            </a:r>
            <a:endParaRPr lang="zh-CN" altLang="en-US" sz="1200" strike="noStrike" noProof="1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 algn="l" defTabSz="914400" fontAlgn="base">
              <a:lnSpc>
                <a:spcPct val="150000"/>
              </a:lnSpc>
              <a:defRPr/>
            </a:pPr>
            <a:r>
              <a:rPr lang="zh-CN" altLang="en-US" sz="1200" strike="noStrike" noProof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电力市场价格预测、能源商品交易量预测</a:t>
            </a:r>
            <a:endParaRPr lang="zh-CN" altLang="en-US" sz="1200" strike="noStrike" noProof="1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25" name="直接连接符 29"/>
          <p:cNvCxnSpPr/>
          <p:nvPr>
            <p:custDataLst>
              <p:tags r:id="rId11"/>
            </p:custDataLst>
          </p:nvPr>
        </p:nvCxnSpPr>
        <p:spPr>
          <a:xfrm rot="16200000" flipH="1">
            <a:off x="3940153" y="2846468"/>
            <a:ext cx="0" cy="993632"/>
          </a:xfrm>
          <a:prstGeom prst="line">
            <a:avLst/>
          </a:prstGeom>
          <a:solidFill>
            <a:srgbClr val="178AA1"/>
          </a:solidFill>
          <a:ln w="28575">
            <a:solidFill>
              <a:srgbClr val="4276AA"/>
            </a:solidFill>
            <a:prstDash val="sysDash"/>
            <a:headEnd type="oval" w="med" len="med"/>
            <a:tailEnd type="oval" w="med" len="med"/>
          </a:ln>
        </p:spPr>
        <p:style>
          <a:lnRef idx="1">
            <a:srgbClr val="4276AA"/>
          </a:lnRef>
          <a:fillRef idx="0">
            <a:srgbClr val="4276AA"/>
          </a:fillRef>
          <a:effectRef idx="0">
            <a:srgbClr val="4276AA"/>
          </a:effectRef>
          <a:fontRef idx="minor">
            <a:srgbClr val="000000"/>
          </a:fontRef>
        </p:style>
      </p:cxnSp>
      <p:cxnSp>
        <p:nvCxnSpPr>
          <p:cNvPr id="26" name="直接连接符 30"/>
          <p:cNvCxnSpPr/>
          <p:nvPr>
            <p:custDataLst>
              <p:tags r:id="rId12"/>
            </p:custDataLst>
          </p:nvPr>
        </p:nvCxnSpPr>
        <p:spPr>
          <a:xfrm rot="16200000" flipH="1">
            <a:off x="7677592" y="2077416"/>
            <a:ext cx="0" cy="991845"/>
          </a:xfrm>
          <a:prstGeom prst="line">
            <a:avLst/>
          </a:prstGeom>
          <a:solidFill>
            <a:srgbClr val="178AA1"/>
          </a:solidFill>
          <a:ln w="28575">
            <a:solidFill>
              <a:srgbClr val="178AA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rgbClr val="4276AA"/>
          </a:lnRef>
          <a:fillRef idx="0">
            <a:srgbClr val="4276AA"/>
          </a:fillRef>
          <a:effectRef idx="0">
            <a:srgbClr val="4276AA"/>
          </a:effectRef>
          <a:fontRef idx="minor">
            <a:srgbClr val="000000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1527" y="835417"/>
            <a:ext cx="6459803" cy="517190"/>
          </a:xfrm>
        </p:spPr>
        <p:txBody>
          <a:bodyPr/>
          <a:lstStyle/>
          <a:p>
            <a:r>
              <a:rPr lang="zh-CN" altLang="en-US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时序预测任务场景分类</a:t>
            </a:r>
            <a:endParaRPr lang="zh-CN" altLang="en-US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80114" y="1445693"/>
            <a:ext cx="806018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单变量单步：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一个时间序列变量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的历史数据来预测该变量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未来一个时间步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单变量多步：根据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一个时间序列变量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的历史数据来预测该变量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未来多个时间步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多变量单步：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多个时间序列变量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的历史数据来预测目标变量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未来一个时间步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</a:t>
            </a:r>
            <a:endParaRPr kumimoji="0" lang="zh-CN" altLang="en-US" sz="160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多变量多步：根据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多个时间序列变量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的历史数据来预测目标变量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未来多个时间步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</a:t>
            </a:r>
            <a:endParaRPr kumimoji="0" lang="zh-CN" altLang="en-US" sz="160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08050" y="3225800"/>
          <a:ext cx="10821670" cy="2500630"/>
        </p:xfrm>
        <a:graphic>
          <a:graphicData uri="http://schemas.openxmlformats.org/drawingml/2006/table">
            <a:tbl>
              <a:tblPr/>
              <a:tblGrid>
                <a:gridCol w="1891030"/>
                <a:gridCol w="1891665"/>
                <a:gridCol w="1890395"/>
                <a:gridCol w="5148580"/>
              </a:tblGrid>
              <a:tr h="532130"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任务分类</a:t>
                      </a:r>
                      <a:endParaRPr lang="zh-CN" altLang="en-US" sz="18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时序变量数量</a:t>
                      </a:r>
                      <a:endParaRPr lang="zh-CN" altLang="en-US" sz="18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预测时间步</a:t>
                      </a:r>
                      <a:endParaRPr lang="zh-CN" altLang="en-US" sz="18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8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实现方案</a:t>
                      </a:r>
                      <a:endParaRPr lang="zh-CN" altLang="en-US" sz="18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</a:tr>
              <a:tr h="489585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单变量单步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直接建模预测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一个特征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单变量多步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方案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：建模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滚动预测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将预测值作为特征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)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方案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</a:rPr>
                        <a:t>：不同时间步分别建模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多变量单步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  <a:sym typeface="+mn-ea"/>
                        </a:rPr>
                        <a:t>直接建模预测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多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个特征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多变量多步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</a:rPr>
                        <a:t>多个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Alibaba PuHuiTi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  <a:sym typeface="+mn-ea"/>
                        </a:rPr>
                        <a:t>方案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Alibaba PuHuiTi"/>
                          <a:sym typeface="+mn-ea"/>
                        </a:rPr>
                        <a:t>1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：建模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多个特征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)+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滚动预测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将预测值作为特征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zh-CN" altLang="en-US" sz="1600" b="0" i="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方案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：不同时间步分别建模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多个特征</a:t>
                      </a:r>
                      <a:r>
                        <a:rPr lang="en-US" altLang="zh-CN" sz="160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方案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：直接建模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深度学习中可以实现序列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序列建模</a:t>
                      </a:r>
                      <a:r>
                        <a:rPr lang="en-US" altLang="zh-CN" sz="1600" b="0" i="0">
                          <a:solidFill>
                            <a:srgbClr val="262626"/>
                          </a:solidFill>
                          <a:latin typeface="Alibaba PuHuiTi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 b="0" i="0">
                        <a:solidFill>
                          <a:srgbClr val="262626"/>
                        </a:solidFill>
                        <a:latin typeface="Alibaba PuHuiTi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1527" y="835417"/>
            <a:ext cx="6459803" cy="517190"/>
          </a:xfrm>
        </p:spPr>
        <p:txBody>
          <a:bodyPr/>
          <a:lstStyle/>
          <a:p>
            <a:r>
              <a:rPr lang="zh-CN" altLang="en-US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时序预测算法选择</a:t>
            </a:r>
            <a:endParaRPr lang="en-US" altLang="zh-CN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79805" y="1445895"/>
            <a:ext cx="9884410" cy="1362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基于统计学的经典时序预测算法：简单平均、指数平滑、</a:t>
            </a:r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ARIMA</a:t>
            </a:r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</a:t>
            </a:r>
            <a:endParaRPr lang="zh-CN" altLang="en-US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深度学习算法：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RNN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类算法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、基于大模型的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iTransformer...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defTabSz="91376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传统机器学习算法：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回归模型均可，如线性回归、决策树、随机森林、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XGBoost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LightGBM</a:t>
            </a:r>
            <a:r>
              <a:rPr kumimoji="0" lang="zh-CN" altLang="en-US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0" lang="en-US" altLang="zh-CN" sz="160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SVM...</a:t>
            </a:r>
            <a:endParaRPr kumimoji="0" lang="zh-CN" altLang="en-US" sz="160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 indent="0" defTabSz="913765" fontAlgn="base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kumimoji="0" lang="zh-CN" altLang="en-US" sz="160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2980" y="2807970"/>
            <a:ext cx="974090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Open Sans"/>
                <a:ea typeface="Open Sans"/>
              </a:rPr>
              <a:t>不论是传统机器学习算法还是深度学习算法，解决方案主要是将时序数据处理成二维的结构化数据集，训练机器学习模型进行预测。</a:t>
            </a:r>
            <a:endParaRPr lang="zh-CN" altLang="en-US" sz="1600" b="0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642995"/>
            <a:ext cx="10688955" cy="2393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442176" y="1048097"/>
            <a:ext cx="559237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什么是时间序列预测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TextBox 6"/>
          <p:cNvSpPr txBox="1"/>
          <p:nvPr>
            <p:custDataLst>
              <p:tags r:id="rId2"/>
            </p:custDataLst>
          </p:nvPr>
        </p:nvSpPr>
        <p:spPr>
          <a:xfrm>
            <a:off x="4845177" y="1348226"/>
            <a:ext cx="66600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根据历史时间序列数据来预测未来值的方法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442176" y="2039085"/>
            <a:ext cx="34935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6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时序预测任务场景分类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Box 6"/>
          <p:cNvSpPr txBox="1"/>
          <p:nvPr>
            <p:custDataLst>
              <p:tags r:id="rId4"/>
            </p:custDataLst>
          </p:nvPr>
        </p:nvSpPr>
        <p:spPr>
          <a:xfrm>
            <a:off x="4845050" y="2506345"/>
            <a:ext cx="734631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单变量单步：直接建模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单变量多步：建模</a:t>
            </a:r>
            <a:r>
              <a:rPr kumimoji="0" lang="en-US" altLang="zh-CN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kumimoji="0" lang="zh-CN" altLang="en-US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滚动预测、多步分别建模</a:t>
            </a:r>
            <a:endParaRPr kumimoji="0" lang="zh-CN" altLang="en-US" sz="1600" b="0" i="0" u="none" strike="noStrike" kern="1200" cap="none" spc="0" normalizeH="0" baseline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多变量单步：直接建模</a:t>
            </a:r>
            <a:endParaRPr kumimoji="0" lang="zh-CN" altLang="en-US" sz="1600" b="0" i="0" u="none" strike="noStrike" kern="1200" cap="none" spc="0" normalizeH="0" baseline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多变量多步：建模</a:t>
            </a:r>
            <a:r>
              <a:rPr kumimoji="0" lang="en-US" altLang="zh-CN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kumimoji="0" lang="zh-CN" altLang="en-US" sz="1600" b="0" i="0" u="none" strike="noStrike" kern="1200" cap="none" spc="0" normalizeH="0" baseline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滚动预测、多步分别建模、深度学习直接建模</a:t>
            </a:r>
            <a:endParaRPr kumimoji="0" lang="zh-CN" altLang="en-US" sz="1600" b="0" i="0" u="none" strike="noStrike" kern="1200" cap="none" spc="0" normalizeH="0" baseline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4442176" y="4259680"/>
            <a:ext cx="34935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6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时序预测算法选择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Box 6"/>
          <p:cNvSpPr txBox="1"/>
          <p:nvPr>
            <p:custDataLst>
              <p:tags r:id="rId6"/>
            </p:custDataLst>
          </p:nvPr>
        </p:nvSpPr>
        <p:spPr>
          <a:xfrm>
            <a:off x="4845177" y="4557055"/>
            <a:ext cx="690389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基于统计学的经典时序预测算法：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简单平均、指数平滑、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AR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MA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ARIMA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...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深度学习算法：</a:t>
            </a:r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RNN</a:t>
            </a:r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类、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iTransformer...</a:t>
            </a:r>
            <a:endParaRPr kumimoji="0" lang="zh-CN" altLang="en-US" sz="1600" b="0" i="0" u="none" strike="noStrike" kern="1200" cap="none" spc="0" normalizeH="0" baseline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传统机器学习算法：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回归模型均可，如线性回归、决策树、随机森林、</a:t>
            </a:r>
            <a:r>
              <a:rPr lang="en-US" altLang="zh-CN" sz="160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XGBoost</a:t>
            </a:r>
            <a:r>
              <a:rPr lang="zh-CN" altLang="en-US" sz="160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en-US" altLang="zh-CN" sz="160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LightGBM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SVM...</a:t>
            </a:r>
            <a:endParaRPr kumimoji="0" lang="zh-CN" altLang="en-US" sz="1600" b="0" i="0" u="none" strike="noStrike" kern="1200" cap="none" spc="0" normalizeH="0" baseline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2604" y="1848064"/>
            <a:ext cx="4176464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、下列关于时间序列预测的描述正确的是？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07233" y="2209897"/>
            <a:ext cx="667258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）是一种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根据历史时间序列数据来预测未来值的方法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）时间序列预测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广泛应用于金融、能源、交通、环境等行业</a:t>
            </a:r>
            <a:endParaRPr 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）时间序列预测只能预测出下一个时间步的结果，不能预测出长期的结果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）时间序列预测只能根据变量自身的历史数据预测未来的数据，无法利用其他数据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10557" y="3775876"/>
            <a:ext cx="7294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答案解析：时间序列预测既可以预测长期的结果，也可以结合多种特征数据进行综合预测。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10557" y="4092569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50115" y="1090766"/>
            <a:ext cx="6420620" cy="4497463"/>
          </a:xfrm>
        </p:spPr>
        <p:txBody>
          <a:bodyPr anchor="t"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时间序列预测简介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电力负荷预测案例介绍</a:t>
            </a:r>
            <a:endParaRPr kumimoji="1" lang="zh-CN" altLang="en-US" sz="18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背景、需求分析</a:t>
            </a:r>
            <a:endParaRPr kumimoji="1" lang="zh-CN" altLang="en-US" sz="18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电力负荷预测案例模型开发</a:t>
            </a:r>
            <a:endParaRPr kumimoji="1" lang="zh-CN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改进方向</a:t>
            </a:r>
            <a:endParaRPr kumimoji="1"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背景</a:t>
            </a:r>
            <a:endParaRPr kumimoji="1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43610" y="1517650"/>
            <a:ext cx="10193655" cy="12433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GB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重要性突出</a:t>
            </a:r>
            <a:r>
              <a:rPr lang="zh-CN" altLang="en-GB" sz="1800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电力工业是国民经济发展中的重要基础性能源产业，是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保证国民经济和社会持续、稳定、健康的发展的关键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。电力工业的发展建设对国家各行业起到至关重要的作用。随着改革开放后中国经济的高速发展，各领域的用电需求在不断激增，推动着电力系统向数字化、智能化转型发展。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943610" y="3138805"/>
            <a:ext cx="10193655" cy="233807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任务复杂艰巨：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着全球对可再生能源的日益重视以及电力系统结构的转型，传统的负荷预测和电力平衡技术面临着新的挑战和机遇。全球范围内，人们对电力系统的可靠性、经济性和环境友好性的要求日益增加，而这些要求往往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受到可再生能源波动性和不确定性的影响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。因此，急需解决的关键问题之一是如何准确预测负荷需求，实现电力供需的平衡，并有效整合可再生能源，满足日益增长的电力需求，同时降低碳排放并确保电网稳定运行。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需求分析</a:t>
            </a:r>
            <a:endParaRPr kumimoji="1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43610" y="1356995"/>
            <a:ext cx="10193655" cy="27393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业务需求：</a:t>
            </a:r>
            <a:r>
              <a:rPr lang="zh-CN" altLang="en-US" b="0" i="0" dirty="0" err="1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根据南方电网中的历史负荷数据，预测下一小时的电力负荷</a:t>
            </a:r>
            <a:endParaRPr lang="zh-CN" altLang="en-US" b="0" i="0" dirty="0" err="1">
              <a:solidFill>
                <a:srgbClr val="C00000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功能需求</a:t>
            </a:r>
            <a:r>
              <a:rPr lang="zh-CN" altLang="en-GB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基于历史的电力负荷数据，尽可能充分的挖掘特征，对未来下一个时间步（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小时）的电力负荷进行预测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数据源：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包含时间、电力负荷两个字段的历史电力负荷数据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技术栈：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pandas、matplotlib、sklearn、xgboost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实现方法：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将时序数据特征以及时间特征整合成特征数据，要预测的指标作为目标数据，处理成二维的结构化数据集，训练机器学习模型进行预测。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4264660"/>
            <a:ext cx="10675620" cy="2129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50115" y="1090766"/>
            <a:ext cx="6420620" cy="4497463"/>
          </a:xfrm>
        </p:spPr>
        <p:txBody>
          <a:bodyPr anchor="t"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时间序列预测简介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b="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电力负荷预测案例介绍</a:t>
            </a:r>
            <a:endParaRPr kumimoji="1" lang="en-US" altLang="zh-CN" sz="16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电力负荷预测案例模型开发</a:t>
            </a:r>
            <a:endParaRPr kumimoji="1" lang="zh-CN" altLang="en-US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模型基础架构搭建</a:t>
            </a:r>
            <a:endParaRPr kumimoji="1" lang="zh-CN" altLang="en-US" sz="18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开发日志工具类</a:t>
            </a:r>
            <a:endParaRPr kumimoji="1" lang="zh-CN" altLang="en-US" sz="18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开发通用工具包</a:t>
            </a:r>
            <a:endParaRPr kumimoji="1" lang="zh-CN" altLang="en-US" sz="18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开发模型训练模块</a:t>
            </a:r>
            <a:endParaRPr kumimoji="1" lang="zh-CN" altLang="en-US" sz="18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开发模型预测模块</a:t>
            </a:r>
            <a:endParaRPr lang="zh-CN" altLang="en-US" sz="180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改进方向</a:t>
            </a:r>
            <a:endParaRPr kumimoji="1"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-1.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</a:t>
            </a:r>
            <a:r>
              <a:rPr kumimoji="1" lang="zh-CN" altLang="en-US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基础架构搭建</a:t>
            </a:r>
            <a:endParaRPr kumimoji="1" lang="zh-CN" altLang="en-US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43610" y="1517650"/>
            <a:ext cx="10193655" cy="41617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800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项目说明：</a:t>
            </a:r>
            <a:r>
              <a:rPr lang="zh-CN" altLang="en-US" sz="1800" b="0" i="0" dirty="0" err="1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该项目基于历史的电力负荷数据，训练</a:t>
            </a: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XGBoost</a:t>
            </a:r>
            <a:r>
              <a:rPr lang="zh-CN" altLang="en-US" sz="1800" b="0" i="0" dirty="0" err="1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模型，实现多变量单步的电力负荷预测</a:t>
            </a:r>
            <a:endParaRPr lang="zh-CN" altLang="en-US" sz="1800" b="0" i="0" dirty="0" err="1">
              <a:solidFill>
                <a:srgbClr val="C00000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800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文件说明</a:t>
            </a:r>
            <a:r>
              <a:rPr lang="zh-CN" altLang="en-GB" sz="1800" b="0" i="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data: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log: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日志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model: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保存的模型文件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src: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项目主要的业务逻辑，包括机器学习建模相关的代码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utils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项目中自定义的工具包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-2.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开发日志工具类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utils/log.py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225" y="1421130"/>
            <a:ext cx="60960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 err="1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非核心代码，建议直接拷贝到项目中</a:t>
            </a:r>
            <a:endParaRPr lang="zh-CN" altLang="en-US" sz="1400" dirty="0" err="1">
              <a:solidFill>
                <a:srgbClr val="C00000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225" y="2080260"/>
            <a:ext cx="9647555" cy="267652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logging</a:t>
            </a:r>
            <a:b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定义日志工具类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2-1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指定日志级别关系映射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2-2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__init__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方法，配置日志保存路径、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logger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名称、初始格式、声明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logger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对象、设置日志级别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2-3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get_logger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方法，指定生成的日志文件名、在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logger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对象中添加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FileHandler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-3.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开发通用工具包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utils/common.py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225" y="1664970"/>
            <a:ext cx="9647555" cy="2928620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pandas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numpy</a:t>
            </a:r>
            <a:b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定义数据预处理方法（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data_preprocessing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2-1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加载数据源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2-2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时间格式化，转化为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”%Y-%m-%d %H:%M:%S”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格式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2-3 </a:t>
            </a:r>
            <a:r>
              <a:rPr 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按照时间升序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排序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2-4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去重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225" y="1356995"/>
            <a:ext cx="9647555" cy="62420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模型训练的重点与难点：时序数据提取特征，转为二维宽表用于模型训练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792605"/>
            <a:ext cx="10321290" cy="1904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38225" y="3696970"/>
            <a:ext cx="9647555" cy="285686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实现流程：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4-1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导包、配置绘图字体</a:t>
            </a:r>
            <a:b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en-GB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</a:t>
            </a:r>
            <a:r>
              <a:rPr lang="en-GB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定义电力负荷模型类，配置日志，获取数据源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4-3 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数据分析</a:t>
            </a:r>
            <a:endParaRPr lang="zh-CN" altLang="en-US" sz="14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4-4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特征工程（重点）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4-5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模型训练、评价与保存（重点）</a:t>
            </a: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50495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4-1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导包、配置绘图字体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346960"/>
            <a:ext cx="8887460" cy="310769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os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pandas as pd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matplotlib.pyplot as plt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datetime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utils.log import Logger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utils.common import data_preprocessing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xgboost import XGBRegressor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sklearn.model_selection import train_test_split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sklearn.model_selection import GridSearchCV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sklearn.metrics import mean_squared_error, mean_absolute_error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joblib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plt.rcParams['font.family'] = 'SimHei'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plt.rcParams['font.size'] = 15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50495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4-2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定义电力负荷模型类，配置日志，获取数据源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548890"/>
            <a:ext cx="8887460" cy="20300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# 定义电力负荷模型类，配置日志，获取数据源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class PowerLoadModel(object):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def __init__(self, filename):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    # 配置日志记录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    logfile_name = "train_" + datetime.datetime.now().strftime('%Y%m%d%H%M%S')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    self.logfile = Logger('../', logfile_name).get_logger()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    # 获取数据源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    self.data_source = get_data(filename)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104900"/>
            <a:ext cx="9647555" cy="51498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4-3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数据分析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1619885"/>
            <a:ext cx="8887460" cy="19380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def ana_data(data):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1.查看数据整体情况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2.负荷整体的分布情况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3.各个小时的平均负荷趋势，看一下负荷在一天中的变化情况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4.各个月份的平均负荷趋势，看一下负荷在一年中的变化情况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5.工作日与周末的平均负荷情况，看一下工作日的负荷与周末的负荷是否有区别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data: 数据源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:return: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3603625"/>
            <a:ext cx="3980815" cy="3124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520" y="3598545"/>
            <a:ext cx="4078605" cy="3107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214755"/>
            <a:ext cx="9647555" cy="572770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4-4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特征工程（重点）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1833245"/>
            <a:ext cx="8887460" cy="289179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def feature_engineering(data, logger):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对给定的数据源，进行特征工程处理，提取出关键的特征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提取出时间特征：小时、</a:t>
            </a:r>
            <a:r>
              <a:rPr lang="zh-CN" altLang="en-US" sz="140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月份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2.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提取出相近时间窗口中的负荷特征：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step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大小窗口的负荷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3.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提取昨日同时刻负荷特征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4.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剔除出现空值的样本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5.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整理时间特征，并返回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data: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数据源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logger: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日志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:return: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pass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5017770"/>
            <a:ext cx="7802880" cy="139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-4.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开发训练模块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src/train.py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356995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4-5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模型训练、评价与保存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（重点）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051050"/>
            <a:ext cx="8887460" cy="310769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def model_train(data, features, logger):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数据集切分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2.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网格化搜索与交叉验证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3.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模型实例化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4.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模型训练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5.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模型评价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6.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模型保存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data: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特征工程处理后的输入数据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features: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特征名称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:param logger: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日志对象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:return: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</a:rPr>
              <a:t>    pass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5421630"/>
            <a:ext cx="5290820" cy="1127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451610"/>
            <a:ext cx="9647555" cy="4729480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实现流程：</a:t>
            </a:r>
            <a:endParaRPr lang="zh-CN" altLang="en-US" sz="1400" b="1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1.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导包、配置绘图字体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2.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定义电力负荷预测类（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PowerLoadPredict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），配置日志，获取数据源、历史数据转为字典（避免频繁操作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dataframe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，提高效率）</a:t>
            </a:r>
            <a:endParaRPr lang="zh-CN" altLang="en-US" sz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3.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加载模型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4.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模型预测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重点）</a:t>
            </a:r>
            <a:endParaRPr lang="zh-CN" altLang="en-US" sz="12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4.1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确定要预测的时间段（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2015-08-01 00:00:00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及以后的时间）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4.2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为了模拟实际场景的预测，把要预测的时间以及以后的负荷都掩盖掉，因此新建一个数据字典，只保存预测时间以前的数据字典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4.3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预测负荷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   4.3.1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解析特征（定义解析特征方法）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   4.3.2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利用加载的模型预测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4.4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保存预测时间对应的真实负荷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4.5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结果保存到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evaluate_list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，三个元素分别是预测时间、真实负荷、预测负荷，方便后续进行预测结果评价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4.6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循环结束后，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evaluate_list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转为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DataFrame</a:t>
            </a:r>
            <a:endParaRPr lang="en-US" altLang="zh-CN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预测结果评价</a:t>
            </a:r>
            <a:endParaRPr lang="zh-CN" altLang="en-US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5.1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计算预测结果与真实结果的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MAE</a:t>
            </a:r>
            <a:endParaRPr lang="en-US" altLang="zh-CN" sz="120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5.2 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绘制折线图（预测时间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真实负荷折线图，预测时间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预测负荷折线图），查看预测效果</a:t>
            </a:r>
            <a:r>
              <a:rPr lang="en-US" altLang="zh-CN" sz="12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50495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5-1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导包、配置绘图字体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346960"/>
            <a:ext cx="8887460" cy="26765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os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pandas as pd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datetime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utils.log import Logger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utils.common import data_preprocessing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sklearn.metrics import mean_absolute_error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matplotlib.ticker as mick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joblib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matplotlib.pyplot as plt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plt.rcParams['font.family'] = 'SimHei'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plt.rcParams['font.size'] = 15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50495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5-2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定义电力负荷预测类，配置日志，获取数据源、历史数据转为字典（避免频繁操作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dataframe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，提高效率）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346960"/>
            <a:ext cx="11006455" cy="20300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class PowerLoadPredict(object):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def __init__(self, filename):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配置日志记录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logfile_name = "predict_" + datetime.datetime.now().strftime('%Y%m%d%H%M%S')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self.logfile = Logger('../', logfile_name).get_logger()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获取数据源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self.data_source = data_preprocessing(filename)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历史数据转为字典，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key: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时间，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value: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负荷，目的是为了避免频繁操作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dataframe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，提高效率。实际开发场景中可以使用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redis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进行缓存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self.data_dict = self.data_source.set_index('time')['power_load'].to_dict()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50495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5-3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加载模型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346960"/>
            <a:ext cx="11006455" cy="3067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model = joblib.load('../model/xgb.pkl')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39700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5-4 </a:t>
            </a:r>
            <a:r>
              <a:rPr 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模型预测（重点）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2131060"/>
            <a:ext cx="11006455" cy="22453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“””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确定要预测的时间段（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2015-08-01 00:00:00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及以后的时间）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为了模拟实际场景的预测，把要预测的时间以及以后的负荷都掩盖掉，因此新建一个数据字典，只保存预测时间以前的数据字典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预测负荷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4.3.1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解析特征（定义解析特征方法）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4.3.2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利用加载的模型预测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保存预测时间对应的真实负荷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结果保存到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evaluate_list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，三个元素分别是预测时间、真实负荷、预测负荷，方便后续进行预测结果评价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4.6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循环结束后，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evaluate_list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转为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DataFrame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“””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4571365"/>
            <a:ext cx="4454525" cy="1878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311910"/>
            <a:ext cx="9647555" cy="69405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5-4 </a:t>
            </a:r>
            <a:r>
              <a:rPr 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模型预测（重点）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定义解析特征方法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038225" y="1924685"/>
            <a:ext cx="11006455" cy="43999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pred_feature_extract(data_dict, time, logger):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预测数据解析特征，保持与模型训练时的特征列名一致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解析时间特征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2.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解析时间窗口特征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3.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解析昨日同时刻特征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:param data_dict: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历史数据，字典格式，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key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：时间，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value: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负荷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:param time: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预测时间，字符串类型，格式为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2024-12-20 09:00:00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:param logger: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日志对象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:return: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logger.info(f'=========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解析预测时间为：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{time}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所对应的特征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==============')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特征列清单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feature_names = ['hour_00', 'hour_01', 'hour_02', 'hour_03', 'hour_04', 'hour_05',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'hour_06', 'hour_07', 'hour_08', 'hour_09', 'hour_10', 'hour_11',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'hour_12', 'hour_13', 'hour_14', 'hour_15', 'hour_16', 'hour_17',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'hour_18', 'hour_19', 'hour_20', 'hour_21', 'hour_22', 'hour_23',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'month_01', 'month_02', 'month_03', 'month_04', 'month_05', 'month_06',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'month_07', 'month_08', 'month_09', 'month_10', 'month_11', 'month_12',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             '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小时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', '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小时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', '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小时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'yesterday_load']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248410"/>
            <a:ext cx="9647555" cy="461010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5-5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预测结果评价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b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8225" y="1782445"/>
            <a:ext cx="11006455" cy="11684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“””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5.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预测结果评价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5.1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计算预测结果与真实结果的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MAE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    5.2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绘制折线图（预测时间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真实负荷折线图，预测时间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预测负荷折线图），查看预测效果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“””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038225" y="3633470"/>
            <a:ext cx="11006455" cy="1599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prediction_plot(data):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绘制时间与预测负荷折线图，时间与真实负荷折线图，展示预测效果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:param data: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数据一共有三列：时间、真实值、预测值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:return: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"""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pass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5.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开发预测模块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src/predict.py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)</a:t>
            </a:r>
            <a:endParaRPr kumimoji="1" lang="en-US" altLang="zh-CN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248410"/>
            <a:ext cx="9647555" cy="461010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5-5 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sym typeface="+mn-ea"/>
              </a:rPr>
              <a:t>预测结果评价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在新数据上的预测效果（蓝线是真实负荷，橙线是预测负荷）</a:t>
            </a:r>
            <a:b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030" y="2133600"/>
            <a:ext cx="8113395" cy="4558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50410" y="1090930"/>
            <a:ext cx="6704330" cy="4497705"/>
          </a:xfrm>
        </p:spPr>
        <p:txBody>
          <a:bodyPr anchor="t"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时间序列预测简介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电力负荷预测案例介绍</a:t>
            </a:r>
            <a:endParaRPr kumimoji="1" lang="zh-CN" altLang="en-US" sz="18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800" b="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电力负荷预测案例模型开发</a:t>
            </a:r>
            <a:endParaRPr kumimoji="1" lang="zh-CN" altLang="en-US" sz="18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改进方向</a:t>
            </a:r>
            <a:endParaRPr kumimoji="1" lang="zh-CN" altLang="en-US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8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特征工程角度、算法角度、预测速度角度、扩展性角度</a:t>
            </a:r>
            <a:endParaRPr kumimoji="1" lang="en-US" altLang="zh-CN" sz="18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kumimoji="1" lang="en-US" altLang="zh-CN" sz="18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改进方向</a:t>
            </a:r>
            <a:endParaRPr kumimoji="1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43610" y="1517650"/>
            <a:ext cx="10193655" cy="7150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本案例还可以做哪些优化？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632" y="4813831"/>
            <a:ext cx="1409816" cy="140981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3610" y="2232660"/>
            <a:ext cx="8783320" cy="338010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333333"/>
                </a:solidFill>
                <a:latin typeface="Open Sans"/>
                <a:ea typeface="Open Sans"/>
              </a:rPr>
              <a:t>特征工程角度</a:t>
            </a:r>
            <a:endParaRPr lang="zh-CN" altLang="en-US" sz="1600" b="1" i="0">
              <a:solidFill>
                <a:srgbClr val="333333"/>
              </a:solidFill>
              <a:latin typeface="Open Sans"/>
              <a:ea typeface="Open Sans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333333"/>
                </a:solidFill>
                <a:latin typeface="Open Sans"/>
                <a:ea typeface="Open Sans"/>
              </a:rPr>
              <a:t>优化时间窗口</a:t>
            </a:r>
            <a:endParaRPr lang="zh-CN" altLang="en-US" sz="1600" i="0">
              <a:solidFill>
                <a:srgbClr val="333333"/>
              </a:solidFill>
              <a:latin typeface="Open Sans"/>
              <a:ea typeface="Open Sans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333333"/>
                </a:solidFill>
                <a:latin typeface="Open Sans"/>
                <a:ea typeface="Open Sans"/>
              </a:rPr>
              <a:t>提取更有效的历史负荷特征</a:t>
            </a:r>
            <a:endParaRPr lang="zh-CN" altLang="en-US" sz="1600" i="0">
              <a:solidFill>
                <a:srgbClr val="333333"/>
              </a:solidFill>
              <a:latin typeface="Open Sans"/>
              <a:ea typeface="Open Sans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C00000"/>
                </a:solidFill>
                <a:latin typeface="Open Sans"/>
                <a:ea typeface="Open Sans"/>
              </a:rPr>
              <a:t>扩展外部特征，比如温度、湿度、风速、历史工业用电量、历史居民用电量等</a:t>
            </a:r>
            <a:endParaRPr lang="zh-CN" altLang="en-US" sz="1600" i="0">
              <a:solidFill>
                <a:srgbClr val="C00000"/>
              </a:solidFill>
              <a:latin typeface="Open Sans"/>
              <a:ea typeface="Open Sans"/>
            </a:endParaRPr>
          </a:p>
          <a:p>
            <a:pPr marL="285750" lvl="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算法角度</a:t>
            </a:r>
            <a:endParaRPr lang="zh-CN" altLang="en-US" sz="1600" b="1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样本分群然后分别建模，比如分地区或者借助聚类算法先进行分群，然后针对不同分区分别训练模型，提升模型的适用性</a:t>
            </a:r>
            <a:endParaRPr lang="zh-CN" altLang="en-US" sz="1600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寻找更优的算法，比如LightGBM、RNN类、iTransformer等算法</a:t>
            </a:r>
            <a:endParaRPr lang="zh-CN" altLang="en-US" sz="1600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寻找更优的算法组合，比如bagging方式或stacking</a:t>
            </a: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方式进行模型组合</a:t>
            </a:r>
            <a:endParaRPr lang="zh-CN" altLang="en-US" sz="1600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</a:t>
            </a:r>
            <a:r>
              <a:rPr kumimoji="1" lang="en-US" altLang="zh-CN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电力负荷预测案例</a:t>
            </a:r>
            <a:r>
              <a:rPr kumimoji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改进方向</a:t>
            </a:r>
            <a:endParaRPr kumimoji="1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943610" y="1517650"/>
            <a:ext cx="10193655" cy="7150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本案例还可以做哪些优化？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632" y="4813831"/>
            <a:ext cx="1409816" cy="140981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3610" y="2232660"/>
            <a:ext cx="8698230" cy="322643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333333"/>
                </a:solidFill>
                <a:latin typeface="Open Sans"/>
                <a:ea typeface="Open Sans"/>
              </a:rPr>
              <a:t>预测（推理）速度角度</a:t>
            </a:r>
            <a:endParaRPr lang="zh-CN" altLang="en-US" sz="1600" b="1" i="0">
              <a:solidFill>
                <a:srgbClr val="333333"/>
              </a:solidFill>
              <a:latin typeface="Open Sans"/>
              <a:ea typeface="Open Sans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预测时也需要特征工程处理，历史负荷可以缓存到redis，使用时直接查询</a:t>
            </a:r>
            <a:endParaRPr lang="zh-CN" altLang="en-US" sz="1600" i="0">
              <a:solidFill>
                <a:srgbClr val="C00000"/>
              </a:solidFill>
              <a:latin typeface="Open Sans"/>
              <a:ea typeface="Open Sans"/>
            </a:endParaRPr>
          </a:p>
          <a:p>
            <a:pPr marL="285750" lvl="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扩展性角度</a:t>
            </a:r>
            <a:endParaRPr lang="zh-CN" altLang="en-US" sz="1600" b="1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扩展通用的工具包，适用于各种数据源的输入输出，如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mysql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pgsql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oracle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redis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Hive</a:t>
            </a: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等数据库的支持</a:t>
            </a:r>
            <a:endParaRPr lang="zh-CN" altLang="en-US" sz="1600" i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项目打包成容器，适配各种服务器环境</a:t>
            </a:r>
            <a:endParaRPr lang="zh-CN" altLang="en-US" sz="1600" i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预测模块与项目解耦，预测模块封装出接口，接收</a:t>
            </a:r>
            <a:r>
              <a:rPr lang="en-US" altLang="zh-CN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web</a:t>
            </a:r>
            <a:r>
              <a:rPr lang="zh-CN" altLang="en-US" sz="1600" i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传过来的参数，根据参数获取数据并进行预测</a:t>
            </a:r>
            <a:endParaRPr lang="zh-CN" altLang="en-US" sz="1600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zh-CN" altLang="en-US" sz="1600" i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a"/>
  <p:tag name="KSO_WM_UNIT_INDEX" val="1_1_1"/>
  <p:tag name="KSO_WM_UNIT_ID" val="diagram20185962_1*q_h_a*1_1_1"/>
  <p:tag name="KSO_WM_UNIT_LAYERLEVEL" val="1_1_1"/>
  <p:tag name="KSO_WM_UNIT_VALUE" val="10"/>
  <p:tag name="KSO_WM_UNIT_HIGHLIGHT" val="0"/>
  <p:tag name="KSO_WM_UNIT_COMPATIBLE" val="0"/>
  <p:tag name="KSO_WM_UNIT_CLEAR" val="0"/>
  <p:tag name="KSO_WM_BEAUTIFY_FLAG" val="#wm#"/>
  <p:tag name="KSO_WM_DIAGRAM_GROUP_CODE" val="q1-1"/>
  <p:tag name="KSO_WM_UNIT_PRESET_TEXT" val="标题文本预设"/>
  <p:tag name="KSO_WM_UNIT_TEXT_FILL_FORE_SCHEMECOLOR_INDEX" val="5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2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1_1"/>
  <p:tag name="KSO_WM_UNIT_ID" val="diagram20185962_1*q_h_i*1_1_1"/>
  <p:tag name="KSO_WM_UNIT_LAYERLEVEL" val="1_1_1"/>
  <p:tag name="KSO_WM_BEAUTIFY_FLAG" val="#wm#"/>
  <p:tag name="KSO_WM_DIAGRAM_GROUP_CODE" val="q1-1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3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1_2"/>
  <p:tag name="KSO_WM_UNIT_ID" val="diagram20185962_1*q_h_i*1_1_2"/>
  <p:tag name="KSO_WM_UNIT_LAYERLEVEL" val="1_1_1"/>
  <p:tag name="KSO_WM_BEAUTIFY_FLAG" val="#wm#"/>
  <p:tag name="KSO_WM_DIAGRAM_GROUP_CODE" val="q1-1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4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2_1"/>
  <p:tag name="KSO_WM_UNIT_ID" val="diagram20185962_1*q_h_i*1_2_1"/>
  <p:tag name="KSO_WM_UNIT_LAYERLEVEL" val="1_1_1"/>
  <p:tag name="KSO_WM_BEAUTIFY_FLAG" val="#wm#"/>
  <p:tag name="KSO_WM_DIAGRAM_GROUP_CODE" val="q1-1"/>
  <p:tag name="KSO_WM_UNIT_FILL_FORE_SCHEMECOLOR_INDEX" val="6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5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2_2"/>
  <p:tag name="KSO_WM_UNIT_ID" val="diagram20185962_1*q_h_i*1_2_2"/>
  <p:tag name="KSO_WM_UNIT_LAYERLEVEL" val="1_1_1"/>
  <p:tag name="KSO_WM_BEAUTIFY_FLAG" val="#wm#"/>
  <p:tag name="KSO_WM_DIAGRAM_GROUP_CODE" val="q1-1"/>
  <p:tag name="KSO_WM_UNIT_FILL_FORE_SCHEMECOLOR_INDEX" val="6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6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3_1"/>
  <p:tag name="KSO_WM_UNIT_ID" val="diagram20185962_1*q_h_i*1_3_1"/>
  <p:tag name="KSO_WM_UNIT_LAYERLEVEL" val="1_1_1"/>
  <p:tag name="KSO_WM_BEAUTIFY_FLAG" val="#wm#"/>
  <p:tag name="KSO_WM_DIAGRAM_GROUP_CODE" val="q1-1"/>
  <p:tag name="KSO_WM_UNIT_FILL_FORE_SCHEMECOLOR_INDEX" val="8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7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3_2"/>
  <p:tag name="KSO_WM_UNIT_ID" val="diagram20185962_1*q_h_i*1_3_2"/>
  <p:tag name="KSO_WM_UNIT_LAYERLEVEL" val="1_1_1"/>
  <p:tag name="KSO_WM_BEAUTIFY_FLAG" val="#wm#"/>
  <p:tag name="KSO_WM_DIAGRAM_GROUP_CODE" val="q1-1"/>
  <p:tag name="KSO_WM_UNIT_FILL_FORE_SCHEMECOLOR_INDEX" val="8"/>
  <p:tag name="KSO_WM_UNIT_FILL_TYPE" val="1"/>
  <p:tag name="KSO_WM_UNIT_TEXT_FILL_FORE_SCHEMECOLOR_INDEX" val="2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8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a"/>
  <p:tag name="KSO_WM_UNIT_INDEX" val="1_2_1"/>
  <p:tag name="KSO_WM_UNIT_ID" val="diagram20185962_1*q_h_a*1_2_1"/>
  <p:tag name="KSO_WM_UNIT_LAYERLEVEL" val="1_1_1"/>
  <p:tag name="KSO_WM_UNIT_VALUE" val="10"/>
  <p:tag name="KSO_WM_UNIT_HIGHLIGHT" val="0"/>
  <p:tag name="KSO_WM_UNIT_COMPATIBLE" val="0"/>
  <p:tag name="KSO_WM_UNIT_CLEAR" val="0"/>
  <p:tag name="KSO_WM_BEAUTIFY_FLAG" val="#wm#"/>
  <p:tag name="KSO_WM_DIAGRAM_GROUP_CODE" val="q1-1"/>
  <p:tag name="KSO_WM_UNIT_PRESET_TEXT" val="标题文本预设"/>
  <p:tag name="KSO_WM_UNIT_TEXT_FILL_FORE_SCHEMECOLOR_INDEX" val="6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9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3_3"/>
  <p:tag name="KSO_WM_UNIT_ID" val="diagram20185962_1*q_h_i*1_3_3"/>
  <p:tag name="KSO_WM_UNIT_LAYERLEVEL" val="1_1_1"/>
  <p:tag name="KSO_WM_BEAUTIFY_FLAG" val="#wm#"/>
  <p:tag name="KSO_WM_DIAGRAM_GROUP_CODE" val="q1-1"/>
  <p:tag name="KSO_WM_UNIT_FILL_FORE_SCHEMECOLOR_INDEX" val="6"/>
  <p:tag name="KSO_WM_UNIT_FILL_TYPE" val="1"/>
  <p:tag name="KSO_WM_UNIT_LINE_FORE_SCHEMECOLOR_INDEX" val="8"/>
  <p:tag name="KSO_WM_UNIT_LINE_FILL_TYPE" val="2"/>
  <p:tag name="KSO_WM_DIAGRAM_VIRTUALLY_FRAME" val="{&quot;height&quot;:299.4363183949083,&quot;left&quot;:26,&quot;top&quot;:158.98273672320198,&quot;width&quot;:880.1885039370078}"/>
</p:tagLst>
</file>

<file path=ppt/tags/tag10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a"/>
  <p:tag name="KSO_WM_UNIT_INDEX" val="1_3_1"/>
  <p:tag name="KSO_WM_UNIT_ID" val="diagram20185962_1*q_h_a*1_3_1"/>
  <p:tag name="KSO_WM_UNIT_LAYERLEVEL" val="1_1_1"/>
  <p:tag name="KSO_WM_UNIT_VALUE" val="10"/>
  <p:tag name="KSO_WM_UNIT_HIGHLIGHT" val="0"/>
  <p:tag name="KSO_WM_UNIT_COMPATIBLE" val="0"/>
  <p:tag name="KSO_WM_UNIT_CLEAR" val="0"/>
  <p:tag name="KSO_WM_BEAUTIFY_FLAG" val="#wm#"/>
  <p:tag name="KSO_WM_DIAGRAM_GROUP_CODE" val="q1-1"/>
  <p:tag name="KSO_WM_UNIT_PRESET_TEXT" val="标题文本预设"/>
  <p:tag name="KSO_WM_UNIT_TEXT_FILL_FORE_SCHEMECOLOR_INDEX" val="8"/>
  <p:tag name="KSO_WM_UNIT_TEXT_FILL_TYPE" val="1"/>
  <p:tag name="KSO_WM_DIAGRAM_VIRTUALLY_FRAME" val="{&quot;height&quot;:299.4363183949083,&quot;left&quot;:26,&quot;top&quot;:158.98273672320198,&quot;width&quot;:880.1885039370078}"/>
</p:tagLst>
</file>

<file path=ppt/tags/tag11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1_4"/>
  <p:tag name="KSO_WM_UNIT_ID" val="diagram20185962_1*q_h_i*1_1_4"/>
  <p:tag name="KSO_WM_UNIT_LAYERLEVEL" val="1_1_1"/>
  <p:tag name="KSO_WM_BEAUTIFY_FLAG" val="#wm#"/>
  <p:tag name="KSO_WM_DIAGRAM_GROUP_CODE" val="q1-1"/>
  <p:tag name="KSO_WM_UNIT_FILL_FORE_SCHEMECOLOR_INDEX" val="6"/>
  <p:tag name="KSO_WM_UNIT_FILL_TYPE" val="1"/>
  <p:tag name="KSO_WM_UNIT_LINE_FORE_SCHEMECOLOR_INDEX" val="5"/>
  <p:tag name="KSO_WM_UNIT_LINE_FILL_TYPE" val="2"/>
  <p:tag name="KSO_WM_DIAGRAM_VIRTUALLY_FRAME" val="{&quot;height&quot;:299.4363183949083,&quot;left&quot;:26,&quot;top&quot;:158.98273672320198,&quot;width&quot;:880.1885039370078}"/>
</p:tagLst>
</file>

<file path=ppt/tags/tag12.xml><?xml version="1.0" encoding="utf-8"?>
<p:tagLst xmlns:p="http://schemas.openxmlformats.org/presentationml/2006/main">
  <p:tag name="KSO_WM_TEMPLATE_CATEGORY" val="diagram"/>
  <p:tag name="KSO_WM_TEMPLATE_INDEX" val="20185962"/>
  <p:tag name="KSO_WM_TAG_VERSION" val="1.0"/>
  <p:tag name="KSO_WM_UNIT_TYPE" val="q_h_i"/>
  <p:tag name="KSO_WM_UNIT_INDEX" val="1_2_4"/>
  <p:tag name="KSO_WM_UNIT_ID" val="diagram20185962_1*q_h_i*1_2_4"/>
  <p:tag name="KSO_WM_UNIT_LAYERLEVEL" val="1_1_1"/>
  <p:tag name="KSO_WM_BEAUTIFY_FLAG" val="#wm#"/>
  <p:tag name="KSO_WM_DIAGRAM_GROUP_CODE" val="q1-1"/>
  <p:tag name="KSO_WM_UNIT_FILL_FORE_SCHEMECOLOR_INDEX" val="6"/>
  <p:tag name="KSO_WM_UNIT_FILL_TYPE" val="1"/>
  <p:tag name="KSO_WM_UNIT_LINE_FORE_SCHEMECOLOR_INDEX" val="6"/>
  <p:tag name="KSO_WM_UNIT_LINE_FILL_TYPE" val="2"/>
  <p:tag name="KSO_WM_DIAGRAM_VIRTUALLY_FRAME" val="{&quot;height&quot;:299.4363183949083,&quot;left&quot;:26,&quot;top&quot;:158.98273672320198,&quot;width&quot;:880.1885039370078}"/>
</p:tagLst>
</file>

<file path=ppt/tags/tag13.xml><?xml version="1.0" encoding="utf-8"?>
<p:tagLst xmlns:p="http://schemas.openxmlformats.org/presentationml/2006/main">
  <p:tag name="TABLE_ENDDRAG_ORIGIN_RECT" val="696*196"/>
  <p:tag name="TABLE_ENDDRAG_RECT" val="127*270*696*196"/>
</p:tagLst>
</file>

<file path=ppt/tags/tag14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ags/tag15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ags/tag16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ags/tag17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ags/tag18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ags/tag19.xml><?xml version="1.0" encoding="utf-8"?>
<p:tagLst xmlns:p="http://schemas.openxmlformats.org/presentationml/2006/main">
  <p:tag name="KSO_WM_DIAGRAM_VIRTUALLY_FRAME" val="{&quot;height&quot;:189.4253543307087,&quot;left&quot;:349.7776377952755,&quot;top&quot;:177.47732283464566,&quot;width&quot;:575.346062992126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7999</Words>
  <Application>WPS 演示</Application>
  <PresentationFormat>宽屏</PresentationFormat>
  <Paragraphs>455</Paragraphs>
  <Slides>33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29</vt:i4>
      </vt:variant>
      <vt:variant>
        <vt:lpstr>幻灯片标题</vt:lpstr>
      </vt:variant>
      <vt:variant>
        <vt:i4>33</vt:i4>
      </vt:variant>
    </vt:vector>
  </HeadingPairs>
  <TitlesOfParts>
    <vt:vector size="85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Medium</vt:lpstr>
      <vt:lpstr>Alibaba PuHuiTi M</vt:lpstr>
      <vt:lpstr>Segoe UI Light</vt:lpstr>
      <vt:lpstr>微软雅黑 Light</vt:lpstr>
      <vt:lpstr>等线</vt:lpstr>
      <vt:lpstr>Alibaba PuHuiTi</vt:lpstr>
      <vt:lpstr>Open Sans</vt:lpstr>
      <vt:lpstr>Calibri</vt:lpstr>
      <vt:lpstr>Arial Unicode MS</vt:lpstr>
      <vt:lpstr>Segoe Print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13_正文设计方案</vt:lpstr>
      <vt:lpstr>14_正文设计方案</vt:lpstr>
      <vt:lpstr>15_正文设计方案</vt:lpstr>
      <vt:lpstr>16_正文设计方案</vt:lpstr>
      <vt:lpstr>17_正文设计方案</vt:lpstr>
      <vt:lpstr>18_正文设计方案</vt:lpstr>
      <vt:lpstr>19_正文设计方案</vt:lpstr>
      <vt:lpstr>20_正文设计方案</vt:lpstr>
      <vt:lpstr>21_正文设计方案</vt:lpstr>
      <vt:lpstr>22_正文设计方案</vt:lpstr>
      <vt:lpstr>南方电网电力负荷预测</vt:lpstr>
      <vt:lpstr>PowerPoint 演示文稿</vt:lpstr>
      <vt:lpstr> 时间序列预测 – 概念</vt:lpstr>
      <vt:lpstr>时序预测应用场景</vt:lpstr>
      <vt:lpstr>时序预测任务场景分类</vt:lpstr>
      <vt:lpstr>时序预测算法选择</vt:lpstr>
      <vt:lpstr>PowerPoint 演示文稿</vt:lpstr>
      <vt:lpstr>PowerPoint 演示文稿</vt:lpstr>
      <vt:lpstr>PowerPoint 演示文稿</vt:lpstr>
      <vt:lpstr> 电力负荷预测-背景</vt:lpstr>
      <vt:lpstr> 电力负荷预测-需求分析</vt:lpstr>
      <vt:lpstr>PowerPoint 演示文稿</vt:lpstr>
      <vt:lpstr> 电力负荷预测-1.模型基础架构搭建</vt:lpstr>
      <vt:lpstr> 电力负荷预测-2.开发日志工具类(utils/log.py)</vt:lpstr>
      <vt:lpstr> 电力负荷预测-3.开发通用工具包(utils/common.py)</vt:lpstr>
      <vt:lpstr> 电力负荷预测-4.开发训练模块(src/train.py)</vt:lpstr>
      <vt:lpstr> 电力负荷预测-4.开发训练模块(src/train.py)</vt:lpstr>
      <vt:lpstr> 电力负荷预测-4.开发训练模块(src/train.py)</vt:lpstr>
      <vt:lpstr> 电力负荷预测-4.开发训练模块(src/train.py)</vt:lpstr>
      <vt:lpstr> 电力负荷预测-4.开发训练模块(src/train.py)</vt:lpstr>
      <vt:lpstr> 电力负荷预测-4.开发训练模块(src/train.py)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 电力负荷预测-5.开发预测模块(src/predict.py)</vt:lpstr>
      <vt:lpstr>PowerPoint 演示文稿</vt:lpstr>
      <vt:lpstr> 电力负荷预测-电力负荷预测案例改进方向</vt:lpstr>
      <vt:lpstr> 电力负荷预测-电力负荷预测案例改进方向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1655</cp:revision>
  <dcterms:created xsi:type="dcterms:W3CDTF">2020-03-31T02:23:00Z</dcterms:created>
  <dcterms:modified xsi:type="dcterms:W3CDTF">2025-04-17T06:12:12Z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DEEC81F040FF46A4A9CB23C9B3672ECB_12</vt:lpwstr>
  </property>
  <property fmtid="{D5CDD505-2E9C-101B-9397-08002B2CF9AE}" pid="3" name="KSOProductBuildVer">
    <vt:lpwstr>2052-12.1.0.20784</vt:lpwstr>
  </property>
</Properties>
</file>