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</p:sldMasterIdLst>
  <p:notesMasterIdLst>
    <p:notesMasterId r:id="rId13"/>
  </p:notesMasterIdLst>
  <p:handoutMasterIdLst>
    <p:handoutMasterId r:id="rId30"/>
  </p:handoutMasterIdLst>
  <p:sldIdLst>
    <p:sldId id="1618" r:id="rId9"/>
    <p:sldId id="1587" r:id="rId10"/>
    <p:sldId id="464" r:id="rId11"/>
    <p:sldId id="1590" r:id="rId12"/>
    <p:sldId id="1591" r:id="rId14"/>
    <p:sldId id="1592" r:id="rId15"/>
    <p:sldId id="1593" r:id="rId16"/>
    <p:sldId id="1621" r:id="rId17"/>
    <p:sldId id="1623" r:id="rId18"/>
    <p:sldId id="1622" r:id="rId19"/>
    <p:sldId id="1609" r:id="rId20"/>
    <p:sldId id="1608" r:id="rId21"/>
    <p:sldId id="1614" r:id="rId22"/>
    <p:sldId id="1615" r:id="rId23"/>
    <p:sldId id="1620" r:id="rId24"/>
    <p:sldId id="1577" r:id="rId25"/>
    <p:sldId id="1601" r:id="rId26"/>
    <p:sldId id="1578" r:id="rId27"/>
    <p:sldId id="1602" r:id="rId28"/>
    <p:sldId id="1619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B60206"/>
    <a:srgbClr val="8A8A8A"/>
    <a:srgbClr val="4C5252"/>
    <a:srgbClr val="F9F9F9"/>
    <a:srgbClr val="48504F"/>
    <a:srgbClr val="AD2B26"/>
    <a:srgbClr val="49504F"/>
    <a:srgbClr val="B70006"/>
    <a:srgbClr val="FFF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5" autoAdjust="0"/>
    <p:restoredTop sz="92394" autoAdjust="0"/>
  </p:normalViewPr>
  <p:slideViewPr>
    <p:cSldViewPr snapToGrid="0">
      <p:cViewPr varScale="1">
        <p:scale>
          <a:sx n="52" d="100"/>
          <a:sy n="52" d="100"/>
        </p:scale>
        <p:origin x="192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590102"/>
            <a:ext cx="10749598" cy="3850540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119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03185"/>
            <a:ext cx="10719120" cy="3819718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8517"/>
            <a:ext cx="10748057" cy="3922461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2212"/>
            <a:ext cx="9845675" cy="454780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0749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19119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598036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60146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7332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7172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50840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pic>
        <p:nvPicPr>
          <p:cNvPr id="13" name="图形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5069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5274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8826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1491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1264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3852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7150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138371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308178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55362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3963112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1924996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255023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2953096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3896183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003998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111232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025081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401118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543117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329809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8" Type="http://schemas.openxmlformats.org/officeDocument/2006/relationships/theme" Target="../theme/theme6.xml"/><Relationship Id="rId17" Type="http://schemas.openxmlformats.org/officeDocument/2006/relationships/image" Target="../media/image7.svg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018" y="5296483"/>
            <a:ext cx="3565964" cy="582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6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pic>
        <p:nvPicPr>
          <p:cNvPr id="12" name="图形 11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871" y="-85784"/>
            <a:ext cx="2666725" cy="11745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989" y="2322246"/>
            <a:ext cx="3168023" cy="1308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朴素贝叶斯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77115" y="2182967"/>
            <a:ext cx="6420620" cy="1931834"/>
          </a:xfrm>
        </p:spPr>
        <p:txBody>
          <a:bodyPr anchor="t"/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朴素贝叶斯算法介绍</a:t>
            </a:r>
            <a:endParaRPr kumimoji="1" lang="en-US" altLang="zh-CN" sz="1600" b="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朴素贝叶斯情感分类案例 </a:t>
            </a:r>
            <a:endParaRPr kumimoji="1"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1"/>
            <a:endParaRPr lang="en-US" altLang="zh-CN" sz="16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38358" y="869546"/>
            <a:ext cx="6298881" cy="4855845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复习常见概率的计算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知道贝叶斯公式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了解朴素贝叶斯是什么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了解拉普拉斯平滑系数的作用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57589"/>
            <a:ext cx="7188521" cy="499579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朴素贝叶斯算法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概率值进行分类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的一种机器学习算法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41731" y="1310319"/>
            <a:ext cx="40162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什么是概率？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1558919" y="1864665"/>
            <a:ext cx="8778881" cy="41557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一件事情发生的可能性，取值在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【0,1】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。比如：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抛硬币正面向上的概率、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面骰子抛出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这一面的概率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041731" y="2271929"/>
            <a:ext cx="363537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例子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判断女神对你的喜欢情况</a:t>
            </a:r>
            <a:endParaRPr lang="zh-CN" altLang="en-US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46" y="2742269"/>
            <a:ext cx="7772400" cy="2971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朴素贝斯算法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概率数学基础复习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41731" y="1310319"/>
            <a:ext cx="75872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条件概率：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表示事件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在另外一个事件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已经发生条件下的发生概率，</a:t>
            </a:r>
            <a:r>
              <a:rPr lang="en-GB" altLang="zh-CN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Open Sans" panose="020B0606030504020204" pitchFamily="34" charset="0"/>
              </a:rPr>
              <a:t>P(A|B)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1558920" y="1708841"/>
            <a:ext cx="8236721" cy="160113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比如：在女神喜欢的条件下，职业是程序员的概率？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女神喜欢条件下，有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个样本中，有程序员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则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2/4 = 0.5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【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思考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】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在女神不喜欢的条件下，职业是程序员的概率是多少？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1042035" y="3331210"/>
            <a:ext cx="8265160" cy="499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联合概率：表示多个条件同时成立的概率，</a:t>
            </a:r>
            <a:r>
              <a:rPr lang="en-GB" altLang="zh-CN" b="0" i="0" u="none" strike="noStrike" dirty="0">
                <a:solidFill>
                  <a:schemeClr val="accent2">
                    <a:lumMod val="75000"/>
                  </a:schemeClr>
                </a:solidFill>
                <a:effectLst/>
                <a:latin typeface="Open Sans" panose="020B0606030504020204" pitchFamily="34" charset="0"/>
              </a:rPr>
              <a:t>P(AB)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= P(A) * P(B|A) = P(B)* P(A|B)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1558920" y="3799042"/>
            <a:ext cx="8509990" cy="205386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比如：职业是程序员并且体型匀称的概率？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数据集中，共有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 </a:t>
            </a:r>
            <a:endParaRPr lang="zh-CN" altLang="en-US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职业是程序员有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个样本，则其概率为：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3/7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在职业是程序员，体型是匀称有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 </a:t>
            </a: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个样本，则其概率为：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1/3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则即是程序员又体型匀称的概率为：</a:t>
            </a:r>
            <a:r>
              <a:rPr lang="en-US" altLang="zh-CN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3/7 * 1/3 = 1/7</a:t>
            </a:r>
            <a:endParaRPr lang="en-US" altLang="zh-CN" sz="1400" b="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dirty="0"/>
              <a:t>【</a:t>
            </a:r>
            <a:r>
              <a:rPr lang="zh-CN" altLang="en-US" sz="1400" dirty="0"/>
              <a:t>思考</a:t>
            </a:r>
            <a:r>
              <a:rPr lang="en-US" altLang="zh-CN" sz="1400" dirty="0"/>
              <a:t>】</a:t>
            </a:r>
            <a:r>
              <a:rPr lang="zh-CN" altLang="en-US" sz="1400" dirty="0"/>
              <a:t>：体型匀称并且是程序员的概率是多少？ </a:t>
            </a:r>
            <a:r>
              <a:rPr lang="en-US" altLang="zh-CN" sz="1400" dirty="0"/>
              <a:t>P(B) P(A|B)</a:t>
            </a:r>
            <a:endParaRPr lang="en-US" altLang="zh-CN" sz="1400" dirty="0"/>
          </a:p>
          <a:p>
            <a:pPr lvl="0">
              <a:defRPr/>
            </a:pPr>
            <a:endParaRPr lang="zh-CN" altLang="en-US" sz="1400" dirty="0"/>
          </a:p>
          <a:p>
            <a:pPr lvl="0">
              <a:defRPr/>
            </a:pPr>
            <a:endParaRPr lang="en-US" altLang="zh-CN" sz="1400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朴素贝斯算法 </a:t>
            </a:r>
            <a:r>
              <a:rPr kumimoji="1"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概率数学基础复习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41731" y="1310319"/>
            <a:ext cx="75872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联合概率 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+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条件概率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1558920" y="1708841"/>
            <a:ext cx="8236721" cy="160113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比如：在女神喜欢的条件下，职业是程序员、并且超重的概率？ </a:t>
            </a:r>
            <a:r>
              <a:rPr lang="en-GB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在女神喜欢的条件下，有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</a:t>
            </a:r>
            <a:endParaRPr lang="zh-CN" altLang="en-US" sz="1400" b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个样本中，职业是程序员有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个样本，则其概率为：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2/4=0.5</a:t>
            </a:r>
            <a:endParaRPr lang="en-US" altLang="zh-CN" sz="1400" b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个样本中，体型超重的有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共 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个样本，则其概率为：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1/2 = 0.5</a:t>
            </a:r>
            <a:endParaRPr lang="en-US" altLang="zh-CN" sz="1400" b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76350" lvl="1" indent="-285750">
              <a:buFont typeface="Arial" panose="020B0604020202020204" pitchFamily="34" charset="0"/>
              <a:buChar char="•"/>
              <a:defRPr/>
            </a:pP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则 </a:t>
            </a:r>
            <a:r>
              <a:rPr lang="en-GB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b="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0.5 * 0.5 = 0.25</a:t>
            </a:r>
            <a:endParaRPr lang="en-US" altLang="zh-CN" sz="1400" b="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文本占位符 2"/>
          <p:cNvSpPr txBox="1"/>
          <p:nvPr/>
        </p:nvSpPr>
        <p:spPr>
          <a:xfrm>
            <a:off x="1041731" y="3330994"/>
            <a:ext cx="7755428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相互独立：如果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P(A, B) = P(A)P(B)</a:t>
            </a:r>
            <a:r>
              <a:rPr kumimoji="0" lang="zh-CN" alt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则称事件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与事件</a:t>
            </a:r>
            <a:r>
              <a:rPr kumimoji="0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 panose="020B060603050402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相互独立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1558920" y="3799042"/>
            <a:ext cx="7755428" cy="58377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比如：女神喜欢程序员的概率，女神喜欢产品经理的概率，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两个事件没有关系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占位符 2"/>
          <p:cNvSpPr txBox="1"/>
          <p:nvPr/>
        </p:nvSpPr>
        <p:spPr>
          <a:xfrm>
            <a:off x="1143762" y="4463863"/>
            <a:ext cx="7949869" cy="137059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简言之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 条件概率：在去掉部分样本的情况下，计算某些样本的出现的概率，表示为：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</a:rPr>
              <a:t>P(B|A)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lvl="0">
              <a:defRPr/>
            </a:pP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</a:rPr>
              <a:t>        联合概率：多个事件同时发生的概率是多少，表示为：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</a:rPr>
              <a:t>P(AB) = P(B)*P(A|B)</a:t>
            </a:r>
            <a:endParaRPr lang="en-US" altLang="zh-CN" sz="1400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朴素贝斯算法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041731" y="1310319"/>
            <a:ext cx="7587262" cy="499578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333333"/>
                </a:solidFill>
                <a:latin typeface="Open Sans" panose="020B0606030504020204" pitchFamily="34" charset="0"/>
              </a:rPr>
              <a:t>贝叶斯公式</a:t>
            </a:r>
            <a:endParaRPr kumimoji="0" lang="zh-CN" altLang="en-GB" sz="16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文本占位符 2"/>
          <p:cNvSpPr txBox="1"/>
          <p:nvPr/>
        </p:nvSpPr>
        <p:spPr>
          <a:xfrm>
            <a:off x="1457319" y="2618817"/>
            <a:ext cx="8320804" cy="1404906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P(C)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 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出现的概率，一般是目标值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P(W|C)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 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条件 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出现的概率</a:t>
            </a:r>
            <a:endParaRPr lang="zh-CN" altLang="en-US" sz="1400" dirty="0">
              <a:solidFill>
                <a:prstClr val="black">
                  <a:lumMod val="85000"/>
                  <a:lumOff val="15000"/>
                </a:prst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P(W)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表示 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W 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出现的概率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3721" y="1863137"/>
            <a:ext cx="2735318" cy="544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74523"/>
            <a:ext cx="10058400" cy="92587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457319" y="5417856"/>
            <a:ext cx="61341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P(C|W) = P(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程序员，超重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P(W|C) = P(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程序员，超重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P(C) = P(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buFont typeface="+mj-lt"/>
              <a:buAutoNum type="arabicPeriod"/>
            </a:pPr>
            <a:r>
              <a:rPr lang="en-GB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P(W) = P(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程序员，超重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4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朴素贝斯算法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93800" y="1757228"/>
            <a:ext cx="9194800" cy="334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根据训练样本估计先验概率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P(C)</a:t>
            </a:r>
            <a:r>
              <a:rPr lang="zh-CN" altLang="en-GB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4/7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根据条件概率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P(W|C)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调整先验概率：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1/4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此时我们的后验概率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P(C|W)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为：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*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4/7 * 1/4 = 1/7 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那么该部分数据占所有既为程序员，又超重的人中的比例是多少呢？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lnSpc>
                <a:spcPct val="200000"/>
              </a:lnSpc>
              <a:buFont typeface="+mj-lt"/>
              <a:buAutoNum type="arabicPeriod"/>
            </a:pP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*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3/7 * 2/3 = 2/7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lnSpc>
                <a:spcPct val="200000"/>
              </a:lnSpc>
              <a:buFont typeface="+mj-lt"/>
              <a:buAutoNum type="arabicPeriod"/>
            </a:pP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1/7 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➗ 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2/7 = 0.5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朴素贝斯算法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6092" y="1730868"/>
            <a:ext cx="9194800" cy="328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朴素贝叶斯在贝叶斯基础上增加：</a:t>
            </a:r>
            <a:r>
              <a:rPr lang="zh-CN" altLang="en-US" sz="2000" b="1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特征条件独立假设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，即：特征之间是互为独立的。</a:t>
            </a:r>
            <a:endParaRPr lang="zh-CN" altLang="en-US" sz="20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此时，联合概率的计算即可简化为：</a:t>
            </a:r>
            <a:endParaRPr lang="zh-CN" altLang="en-US" sz="20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</a:t>
            </a: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* </a:t>
            </a: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|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喜欢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20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= </a:t>
            </a: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程序员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 * </a:t>
            </a:r>
            <a:r>
              <a:rPr lang="en-GB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</a:t>
            </a:r>
            <a:r>
              <a:rPr lang="zh-CN" altLang="en-US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超重</a:t>
            </a:r>
            <a:r>
              <a:rPr lang="en-US" altLang="zh-CN" sz="2000" b="0" i="0" u="none" strike="noStrike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20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0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>
              <a:lnSpc>
                <a:spcPct val="150000"/>
              </a:lnSpc>
            </a:pPr>
            <a:endParaRPr lang="en-US" altLang="zh-CN" sz="2000" b="0" i="0" u="none" strike="noStrike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拉普拉斯平滑系数</a:t>
            </a:r>
            <a:endParaRPr kumimoji="1" lang="zh-CN" altLang="en-US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6"/>
              <p:cNvSpPr txBox="1"/>
              <p:nvPr/>
            </p:nvSpPr>
            <p:spPr>
              <a:xfrm>
                <a:off x="710879" y="1938527"/>
                <a:ext cx="10414321" cy="396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为了避免概率值为 </a:t>
                </a:r>
                <a:r>
                  <a:rPr lang="en-US" altLang="zh-CN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0</a:t>
                </a:r>
                <a:r>
                  <a: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，我们在分子和分母分别加上一个数值，这就是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拉普拉斯平滑系数的作用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                  </a:t>
                </a:r>
                <a:endParaRPr lang="en-US" altLang="zh-CN" dirty="0">
                  <a:solidFill>
                    <a:schemeClr val="accent2">
                      <a:lumMod val="75000"/>
                    </a:schemeClr>
                  </a:solidFill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		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1</m:t>
                        </m:r>
                      </m:sub>
                    </m:sSub>
                    <m:r>
                      <a:rPr lang="zh-CN" alt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lang="en-US" altLang="zh-CN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|</m:t>
                    </m:r>
                    <m:r>
                      <a:rPr lang="zh-CN" altLang="en-US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 </m:t>
                    </m:r>
                    <m:r>
                      <a:rPr lang="en-US" altLang="zh-CN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libaba PuHuiTi" pitchFamily="18" charset="-122"/>
                        <a:cs typeface="Alibaba PuHuiTi" pitchFamily="18" charset="-122"/>
                      </a:rPr>
                      <m:t>𝐶</m:t>
                    </m:r>
                  </m:oMath>
                </a14:m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)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en-US" altLang="zh-CN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=</a:t>
                </a:r>
                <a:r>
                  <a:rPr lang="zh-CN" altLang="en-US" dirty="0">
                    <a:solidFill>
                      <a:schemeClr val="accent2">
                        <a:lumMod val="75000"/>
                      </a:schemeClr>
                    </a:solidFill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Alibaba PuHuiTi" pitchFamily="18" charset="-122"/>
                                <a:cs typeface="Alibaba PuHuiTi" pitchFamily="18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 </m:t>
                        </m:r>
                        <m:r>
                          <a:rPr lang="zh-CN" alt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𝛼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𝑁</m:t>
                        </m:r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+</m:t>
                        </m:r>
                        <m:r>
                          <a:rPr lang="zh-CN" alt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𝛼</m:t>
                        </m:r>
                        <m:r>
                          <a:rPr lang="en-US" altLang="zh-CN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Alibaba PuHuiTi" pitchFamily="18" charset="-122"/>
                            <a:cs typeface="Alibaba PuHuiTi" pitchFamily="18" charset="-122"/>
                          </a:rPr>
                          <m:t>𝑚</m:t>
                        </m:r>
                      </m:den>
                    </m:f>
                  </m:oMath>
                </a14:m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C0504D">
                      <a:lumMod val="75000"/>
                    </a:srgb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l-GR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α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是拉普拉斯平滑系数，一般指定为 </a:t>
                </a:r>
                <a:r>
                  <a:rPr lang="en-US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1</a:t>
                </a:r>
                <a:endParaRPr lang="en-US" altLang="zh-CN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</a:t>
                </a:r>
                <a:r>
                  <a:rPr lang="en-GB" altLang="zh-CN" baseline="-25000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i</a:t>
                </a: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 </a:t>
                </a: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F1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中符合条件 </a:t>
                </a: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的样本数量</a:t>
                </a:r>
                <a:endParaRPr lang="zh-CN" altLang="en-US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N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是在条件 </a:t>
                </a: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C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下所有样本的总数</a:t>
                </a:r>
                <a:endParaRPr lang="zh-CN" altLang="en-US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altLang="zh-CN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m 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表示</a:t>
                </a:r>
                <a:r>
                  <a:rPr lang="zh-CN" altLang="en-US" b="1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所有独立样本</a:t>
                </a:r>
                <a:r>
                  <a:rPr lang="zh-CN" altLang="en-US" dirty="0">
                    <a:latin typeface="Alibaba PuHuiTi" pitchFamily="18" charset="-122"/>
                    <a:ea typeface="Alibaba PuHuiTi" pitchFamily="18" charset="-122"/>
                    <a:cs typeface="Alibaba PuHuiTi" pitchFamily="18" charset="-122"/>
                  </a:rPr>
                  <a:t>的总数</a:t>
                </a:r>
                <a:endParaRPr lang="zh-CN" altLang="en-US" dirty="0"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  <a:p>
                <a:pPr>
                  <a:lnSpc>
                    <a:spcPct val="150000"/>
                  </a:lnSpc>
                  <a:defRPr/>
                </a:pPr>
                <a:endPara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libaba PuHuiTi" pitchFamily="18" charset="-122"/>
                  <a:ea typeface="Alibaba PuHuiTi" pitchFamily="18" charset="-122"/>
                  <a:cs typeface="Alibaba PuHuiTi" pitchFamily="18" charset="-122"/>
                </a:endParaRPr>
              </a:p>
            </p:txBody>
          </p:sp>
        </mc:Choice>
        <mc:Fallback>
          <p:sp>
            <p:nvSpPr>
              <p:cNvPr id="4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79" y="1938527"/>
                <a:ext cx="10414321" cy="3967433"/>
              </a:xfrm>
              <a:prstGeom prst="rect">
                <a:avLst/>
              </a:prstGeom>
              <a:blipFill rotWithShape="1">
                <a:blip r:embed="rId1"/>
                <a:stretch>
                  <a:fillRect l="-3" t="-13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442176" y="956795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朴素贝叶斯算法概念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文本占位符 1"/>
          <p:cNvSpPr txBox="1"/>
          <p:nvPr/>
        </p:nvSpPr>
        <p:spPr>
          <a:xfrm>
            <a:off x="86125" y="181128"/>
            <a:ext cx="7036395" cy="761341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 marR="0" lvl="1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4845177" y="1256924"/>
            <a:ext cx="6660057" cy="3852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概率值进行分类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的一种机器学习算法。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贝叶斯基础上增加</a:t>
            </a:r>
            <a:r>
              <a:rPr lang="zh-CN" altLang="en-US" sz="1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特征条件独立假设。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42175" y="1832100"/>
            <a:ext cx="349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概率数学基础   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4902200" y="2242185"/>
            <a:ext cx="70923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概率：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一件事情发生的可能性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条件概率：表示事件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在另外一个事件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已经发生条件下的发生概率，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P(A|B)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联合概率：表示多个条件同时成立的概率，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P(AB) = P(A) * P(B|A) = P(B)* P(A|B)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42176" y="3355358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贝叶斯公式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929" y="3883187"/>
            <a:ext cx="2030839" cy="40451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42176" y="4509284"/>
            <a:ext cx="559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拉普拉斯平滑系数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786183" y="4937752"/>
            <a:ext cx="6660057" cy="7083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为了避免概率值为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，我们在分子和分母分别加上一个数值，这就是</a:t>
            </a: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拉普拉斯平滑系数的作用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13820" y="1967098"/>
            <a:ext cx="5760640" cy="3529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、下列关于朴素贝叶斯实现原理的描述正确的是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：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97287" y="2536905"/>
            <a:ext cx="6663129" cy="1673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）它是一种经典的概率统计方法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）它假设样本之间是相互独立的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）使用它需要计算出相应的联合概率和条件概率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为了避免概率值为 </a:t>
            </a:r>
            <a:r>
              <a:rPr lang="en-US" altLang="zh-CN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0</a:t>
            </a:r>
            <a:r>
              <a:rPr lang="zh-CN" altLang="en-US" sz="14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，我们在分子和分母分别加上一个数值，这就是拉普拉斯平滑系数的作用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48664" y="4983975"/>
            <a:ext cx="9829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答案：</a:t>
            </a:r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ACD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26315" y="2360767"/>
            <a:ext cx="6420620" cy="1550834"/>
          </a:xfrm>
        </p:spPr>
        <p:txBody>
          <a:bodyPr anchor="t"/>
          <a:lstStyle/>
          <a:p>
            <a:r>
              <a:rPr lang="zh-CN" altLang="en-US" sz="1600" dirty="0">
                <a:solidFill>
                  <a:schemeClr val="tx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朴素贝叶斯算法介绍</a:t>
            </a:r>
            <a:endParaRPr kumimoji="1" lang="en-US" altLang="zh-CN" sz="1400" b="0" dirty="0">
              <a:solidFill>
                <a:schemeClr val="tx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朴素贝叶斯情感分类案例 </a:t>
            </a:r>
            <a:endParaRPr kumimoji="1"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38358" y="495920"/>
            <a:ext cx="6298881" cy="4855845"/>
          </a:xfrm>
        </p:spPr>
        <p:txBody>
          <a:bodyPr/>
          <a:lstStyle/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知道朴素贝叶斯的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API</a:t>
            </a:r>
            <a:endParaRPr lang="en-GB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能够应用朴素贝叶斯实现商品评论情感分析</a:t>
            </a:r>
            <a:endParaRPr lang="zh-CN" altLang="en-US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案例：商品评论情感分析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1515920" y="1510377"/>
            <a:ext cx="2848606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API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文本占位符 2"/>
          <p:cNvSpPr txBox="1"/>
          <p:nvPr/>
        </p:nvSpPr>
        <p:spPr>
          <a:xfrm>
            <a:off x="2628650" y="2241411"/>
            <a:ext cx="6375863" cy="11875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altLang="zh-CN" sz="1800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sklearn.naive_bayes.MultinomialNB</a:t>
            </a:r>
            <a:r>
              <a:rPr lang="en-GB" altLang="zh-CN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(alpha = 1.0</a:t>
            </a:r>
            <a:r>
              <a:rPr lang="zh-CN" altLang="en-US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 </a:t>
            </a:r>
            <a:b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</a:t>
            </a:r>
            <a:r>
              <a:rPr lang="en-US" altLang="zh-CN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朴素贝叶斯分类</a:t>
            </a:r>
            <a:endParaRPr lang="zh-CN" altLang="en-US" sz="18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zh-CN" altLang="en-US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 </a:t>
            </a:r>
            <a:r>
              <a:rPr lang="en-US" altLang="zh-CN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alpha</a:t>
            </a:r>
            <a:r>
              <a:rPr lang="zh-CN" altLang="en-GB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8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拉普拉斯平滑系数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商品评论情感分析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文本占位符 2"/>
          <p:cNvSpPr txBox="1"/>
          <p:nvPr/>
        </p:nvSpPr>
        <p:spPr>
          <a:xfrm>
            <a:off x="1074170" y="1428606"/>
            <a:ext cx="9240463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需求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占位符 2"/>
          <p:cNvSpPr txBox="1"/>
          <p:nvPr/>
        </p:nvSpPr>
        <p:spPr>
          <a:xfrm>
            <a:off x="2142543" y="1467723"/>
            <a:ext cx="5293315" cy="517191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已知商品评论数据，根据数据进行</a:t>
            </a:r>
            <a:r>
              <a:rPr lang="zh-CN" altLang="en-US" sz="14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情感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分类（好评、差评）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685" y="1945797"/>
            <a:ext cx="5468257" cy="4563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商品评论情感分析流程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占位符 2"/>
          <p:cNvSpPr txBox="1"/>
          <p:nvPr/>
        </p:nvSpPr>
        <p:spPr>
          <a:xfrm>
            <a:off x="2428240" y="1658620"/>
            <a:ext cx="5076825" cy="448056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获取数据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数据基本处理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#2-1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处理数据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b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2-2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加载停用词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2-3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处理数据</a:t>
            </a:r>
            <a:r>
              <a:rPr lang="en-GB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把文档分词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2-4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统计词频矩阵 作为句子特征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准备训练集测试集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模型训练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4-1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实例化贝叶斯 添加拉普拉斯平滑参数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4-2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模型预测</a:t>
            </a:r>
            <a:b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5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模型评估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lvl="0">
              <a:defRPr/>
            </a:pPr>
            <a:br>
              <a:rPr lang="zh-CN" altLang="en-US" i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文本占位符 2"/>
          <p:cNvSpPr txBox="1"/>
          <p:nvPr/>
        </p:nvSpPr>
        <p:spPr>
          <a:xfrm>
            <a:off x="6357724" y="1896608"/>
            <a:ext cx="4466595" cy="1855044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kumimoji="0" lang="en-US" altLang="zh-CN" sz="1400" b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案例：商品评论情感分析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文本占位符 2"/>
          <p:cNvSpPr txBox="1"/>
          <p:nvPr/>
        </p:nvSpPr>
        <p:spPr>
          <a:xfrm>
            <a:off x="1649600" y="6259201"/>
            <a:ext cx="7792856" cy="469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313638" y="1270081"/>
            <a:ext cx="9125762" cy="504753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 err="1"/>
              <a:t>numpy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</a:rPr>
              <a:t>as </a:t>
            </a:r>
            <a:r>
              <a:rPr lang="en-GB" altLang="zh-CN" sz="1400" dirty="0"/>
              <a:t>np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/>
              <a:t>pandas </a:t>
            </a:r>
            <a:r>
              <a:rPr lang="en-GB" altLang="zh-CN" sz="1400" dirty="0">
                <a:solidFill>
                  <a:srgbClr val="0033B3"/>
                </a:solidFill>
              </a:rPr>
              <a:t>as </a:t>
            </a:r>
            <a:r>
              <a:rPr lang="en-GB" altLang="zh-CN" sz="1400" dirty="0"/>
              <a:t>pd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 err="1"/>
              <a:t>matplotlib.pyplot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</a:rPr>
              <a:t>as </a:t>
            </a:r>
            <a:r>
              <a:rPr lang="en-GB" altLang="zh-CN" sz="1400" dirty="0" err="1"/>
              <a:t>plt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 err="1"/>
              <a:t>jieba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from </a:t>
            </a:r>
            <a:r>
              <a:rPr lang="en-GB" altLang="zh-CN" sz="1400" dirty="0" err="1"/>
              <a:t>sklearn.feature_extraction.text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 err="1"/>
              <a:t>CountVectorizer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from </a:t>
            </a:r>
            <a:r>
              <a:rPr lang="en-GB" altLang="zh-CN" sz="1400" dirty="0" err="1"/>
              <a:t>sklearn.naive_bayes</a:t>
            </a:r>
            <a:r>
              <a:rPr lang="en-GB" altLang="zh-CN" sz="1400" dirty="0"/>
              <a:t>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 err="1"/>
              <a:t>MultinomialNB</a:t>
            </a:r>
            <a:r>
              <a:rPr lang="en-GB" altLang="zh-CN" sz="1400" dirty="0"/>
              <a:t>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多项分布朴素贝叶斯</a:t>
            </a:r>
            <a:b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黑体" panose="02010609060101010101" pitchFamily="49" charset="-122"/>
                <a:cs typeface="+mn-cs"/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</a:rPr>
              <a:t>dm02_</a:t>
            </a:r>
            <a:r>
              <a:rPr lang="zh-CN" altLang="en-US" sz="1400" dirty="0">
                <a:solidFill>
                  <a:srgbClr val="00627A"/>
                </a:solidFill>
              </a:rPr>
              <a:t>模型训练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pd.read_csv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‘./data/</a:t>
            </a:r>
            <a:r>
              <a:rPr lang="zh-CN" altLang="en-US" sz="1400" dirty="0">
                <a:solidFill>
                  <a:srgbClr val="067D17"/>
                </a:solidFill>
              </a:rPr>
              <a:t>书籍评价</a:t>
            </a:r>
            <a:r>
              <a:rPr lang="en-US" altLang="zh-CN" sz="1400" dirty="0">
                <a:solidFill>
                  <a:srgbClr val="067D17"/>
                </a:solidFill>
              </a:rPr>
              <a:t>.</a:t>
            </a:r>
            <a:r>
              <a:rPr lang="en-GB" altLang="zh-CN" sz="1400" dirty="0">
                <a:solidFill>
                  <a:srgbClr val="067D17"/>
                </a:solidFill>
              </a:rPr>
              <a:t>csv’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</a:rPr>
              <a:t>encoding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en-GB" altLang="zh-CN" sz="1400" dirty="0" err="1">
                <a:solidFill>
                  <a:srgbClr val="067D17"/>
                </a:solidFill>
              </a:rPr>
              <a:t>gbk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en-GB" altLang="zh-CN" sz="1400" dirty="0" err="1">
                <a:solidFill>
                  <a:srgbClr val="067D17"/>
                </a:solidFill>
              </a:rPr>
              <a:t>data_df</a:t>
            </a:r>
            <a:r>
              <a:rPr lang="en-GB" altLang="zh-CN" sz="1400" dirty="0">
                <a:solidFill>
                  <a:srgbClr val="067D17"/>
                </a:solidFill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</a:rPr>
              <a:t>数据基本处理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2-1 </a:t>
            </a:r>
            <a:r>
              <a:rPr lang="zh-CN" altLang="en-US" sz="1400" i="1" dirty="0">
                <a:solidFill>
                  <a:srgbClr val="8C8C8C"/>
                </a:solidFill>
              </a:rPr>
              <a:t>处理数据</a:t>
            </a:r>
            <a:r>
              <a:rPr lang="en-GB" altLang="zh-CN" sz="1400" i="1" dirty="0">
                <a:solidFill>
                  <a:srgbClr val="8C8C8C"/>
                </a:solidFill>
              </a:rPr>
              <a:t>y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zh-CN" altLang="en-US" sz="1400" dirty="0">
                <a:solidFill>
                  <a:srgbClr val="067D17"/>
                </a:solidFill>
              </a:rPr>
              <a:t>评论标号</a:t>
            </a:r>
            <a:r>
              <a:rPr lang="en-US" altLang="zh-CN" sz="1400" dirty="0">
                <a:solidFill>
                  <a:srgbClr val="067D17"/>
                </a:solidFill>
              </a:rPr>
              <a:t>’</a:t>
            </a:r>
            <a:r>
              <a:rPr lang="en-US" altLang="zh-CN" sz="1400" dirty="0"/>
              <a:t>] = </a:t>
            </a:r>
            <a:r>
              <a:rPr lang="en-GB" altLang="zh-CN" sz="1400" dirty="0" err="1"/>
              <a:t>np.where</a:t>
            </a:r>
            <a:r>
              <a:rPr lang="en-GB" altLang="zh-CN" sz="1400" dirty="0"/>
              <a:t>(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zh-CN" altLang="en-US" sz="1400" dirty="0">
                <a:solidFill>
                  <a:srgbClr val="067D17"/>
                </a:solidFill>
              </a:rPr>
              <a:t>评价</a:t>
            </a:r>
            <a:r>
              <a:rPr lang="en-US" altLang="zh-CN" sz="1400" dirty="0">
                <a:solidFill>
                  <a:srgbClr val="067D17"/>
                </a:solidFill>
              </a:rPr>
              <a:t>’</a:t>
            </a:r>
            <a:r>
              <a:rPr lang="en-US" altLang="zh-CN" sz="1400" dirty="0"/>
              <a:t>] == </a:t>
            </a:r>
            <a:r>
              <a:rPr lang="en-US" altLang="zh-CN" sz="1400" dirty="0">
                <a:solidFill>
                  <a:srgbClr val="067D17"/>
                </a:solidFill>
              </a:rPr>
              <a:t>‘</a:t>
            </a:r>
            <a:r>
              <a:rPr lang="zh-CN" altLang="en-US" sz="1400" dirty="0">
                <a:solidFill>
                  <a:srgbClr val="067D17"/>
                </a:solidFill>
              </a:rPr>
              <a:t>好评</a:t>
            </a:r>
            <a:r>
              <a:rPr lang="en-US" altLang="zh-CN" sz="1400" dirty="0">
                <a:solidFill>
                  <a:srgbClr val="067D17"/>
                </a:solidFill>
              </a:rPr>
              <a:t>’</a:t>
            </a:r>
            <a:r>
              <a:rPr lang="en-US" altLang="zh-CN" sz="1400" dirty="0"/>
              <a:t>, </a:t>
            </a:r>
            <a:r>
              <a:rPr lang="en-US" altLang="zh-CN" sz="1400" dirty="0">
                <a:solidFill>
                  <a:srgbClr val="1750EB"/>
                </a:solidFill>
              </a:rPr>
              <a:t>1</a:t>
            </a:r>
            <a:r>
              <a:rPr lang="en-US" altLang="zh-CN" sz="1400" dirty="0"/>
              <a:t>, </a:t>
            </a:r>
            <a:r>
              <a:rPr lang="en-US" altLang="zh-CN" sz="1400" dirty="0">
                <a:solidFill>
                  <a:srgbClr val="1750EB"/>
                </a:solidFill>
              </a:rPr>
              <a:t>0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/>
              <a:t>y =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zh-CN" altLang="en-US" sz="1400" dirty="0">
                <a:solidFill>
                  <a:srgbClr val="067D17"/>
                </a:solidFill>
              </a:rPr>
              <a:t>评论标号</a:t>
            </a:r>
            <a:r>
              <a:rPr lang="en-US" altLang="zh-CN" sz="1400" dirty="0">
                <a:solidFill>
                  <a:srgbClr val="067D17"/>
                </a:solidFill>
              </a:rPr>
              <a:t>’</a:t>
            </a:r>
            <a:r>
              <a:rPr lang="en-US" altLang="zh-CN" sz="1400" dirty="0"/>
              <a:t>]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en-GB" altLang="zh-CN" sz="1400" dirty="0" err="1">
                <a:solidFill>
                  <a:srgbClr val="067D17"/>
                </a:solidFill>
              </a:rPr>
              <a:t>data_df</a:t>
            </a:r>
            <a:r>
              <a:rPr lang="en-GB" altLang="zh-CN" sz="1400" dirty="0">
                <a:solidFill>
                  <a:srgbClr val="067D17"/>
                </a:solidFill>
              </a:rPr>
              <a:t>--&gt;</a:t>
            </a:r>
            <a:r>
              <a:rPr lang="en-GB" altLang="zh-CN" sz="1400" dirty="0">
                <a:solidFill>
                  <a:srgbClr val="0037A6"/>
                </a:solidFill>
              </a:rPr>
              <a:t>\n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2-2 </a:t>
            </a:r>
            <a:r>
              <a:rPr lang="zh-CN" altLang="en-US" sz="1400" i="1" dirty="0">
                <a:solidFill>
                  <a:srgbClr val="8C8C8C"/>
                </a:solidFill>
              </a:rPr>
              <a:t>加载停用词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stopwords</a:t>
            </a:r>
            <a:r>
              <a:rPr lang="en-GB" altLang="zh-CN" sz="1400" dirty="0"/>
              <a:t> = []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with </a:t>
            </a:r>
            <a:r>
              <a:rPr lang="en-GB" altLang="zh-CN" sz="1400" dirty="0">
                <a:solidFill>
                  <a:srgbClr val="000080"/>
                </a:solidFill>
              </a:rPr>
              <a:t>open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‘./data/</a:t>
            </a:r>
            <a:r>
              <a:rPr lang="en-GB" altLang="zh-CN" sz="1400" dirty="0" err="1">
                <a:solidFill>
                  <a:srgbClr val="067D17"/>
                </a:solidFill>
              </a:rPr>
              <a:t>stopwords.txt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‘r’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</a:rPr>
              <a:t>encoding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67D17"/>
                </a:solidFill>
              </a:rPr>
              <a:t>‘utf-8’</a:t>
            </a:r>
            <a:r>
              <a:rPr lang="en-GB" altLang="zh-CN" sz="1400" dirty="0"/>
              <a:t>) </a:t>
            </a:r>
            <a:r>
              <a:rPr lang="en-GB" altLang="zh-CN" sz="1400" dirty="0">
                <a:solidFill>
                  <a:srgbClr val="0033B3"/>
                </a:solidFill>
              </a:rPr>
              <a:t>as </a:t>
            </a:r>
            <a:r>
              <a:rPr lang="en-GB" altLang="zh-CN" sz="1400" dirty="0"/>
              <a:t>f:</a:t>
            </a:r>
            <a:br>
              <a:rPr lang="en-GB" altLang="zh-CN" sz="1400" dirty="0"/>
            </a:br>
            <a:r>
              <a:rPr lang="en-GB" altLang="zh-CN" sz="1400" dirty="0"/>
              <a:t>        lines = </a:t>
            </a:r>
            <a:r>
              <a:rPr lang="en-GB" altLang="zh-CN" sz="1400" dirty="0" err="1"/>
              <a:t>f.readlines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 err="1"/>
              <a:t>stopwords</a:t>
            </a:r>
            <a:r>
              <a:rPr lang="en-GB" altLang="zh-CN" sz="1400" dirty="0"/>
              <a:t> = [</a:t>
            </a:r>
            <a:r>
              <a:rPr lang="en-GB" altLang="zh-CN" sz="1400" dirty="0" err="1"/>
              <a:t>line.strip</a:t>
            </a:r>
            <a:r>
              <a:rPr lang="en-GB" altLang="zh-CN" sz="1400" dirty="0"/>
              <a:t>() </a:t>
            </a:r>
            <a:r>
              <a:rPr lang="en-GB" altLang="zh-CN" sz="1400" dirty="0">
                <a:solidFill>
                  <a:srgbClr val="0033B3"/>
                </a:solidFill>
              </a:rPr>
              <a:t>for </a:t>
            </a:r>
            <a:r>
              <a:rPr lang="en-GB" altLang="zh-CN" sz="1400" dirty="0"/>
              <a:t>line </a:t>
            </a:r>
            <a:r>
              <a:rPr lang="en-GB" altLang="zh-CN" sz="1400" dirty="0">
                <a:solidFill>
                  <a:srgbClr val="0033B3"/>
                </a:solidFill>
              </a:rPr>
              <a:t>in </a:t>
            </a:r>
            <a:r>
              <a:rPr lang="en-GB" altLang="zh-CN" sz="1400" dirty="0"/>
              <a:t>lines]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stopwords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80"/>
                </a:solidFill>
              </a:rPr>
              <a:t>list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00080"/>
                </a:solidFill>
              </a:rPr>
              <a:t>set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stopwords</a:t>
            </a:r>
            <a:r>
              <a:rPr lang="en-GB" altLang="zh-CN" sz="1400" dirty="0"/>
              <a:t>))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去重   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10879" y="839979"/>
            <a:ext cx="6459803" cy="517190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案例：商品评论情感分析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文本占位符 2"/>
          <p:cNvSpPr txBox="1"/>
          <p:nvPr/>
        </p:nvSpPr>
        <p:spPr>
          <a:xfrm>
            <a:off x="1649600" y="6259201"/>
            <a:ext cx="7792856" cy="46929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Roboto" panose="02000000000000000000" pitchFamily="2" charset="0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453666" y="1418938"/>
            <a:ext cx="572942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2-3 </a:t>
            </a:r>
            <a:r>
              <a:rPr lang="zh-CN" altLang="en-US" sz="1400" i="1" dirty="0">
                <a:solidFill>
                  <a:srgbClr val="8C8C8C"/>
                </a:solidFill>
              </a:rPr>
              <a:t>处理数据</a:t>
            </a:r>
            <a:r>
              <a:rPr lang="en-GB" altLang="zh-CN" sz="1400" i="1" dirty="0">
                <a:solidFill>
                  <a:srgbClr val="8C8C8C"/>
                </a:solidFill>
              </a:rPr>
              <a:t>x </a:t>
            </a:r>
            <a:r>
              <a:rPr lang="zh-CN" altLang="en-US" sz="1400" i="1" dirty="0">
                <a:solidFill>
                  <a:srgbClr val="8C8C8C"/>
                </a:solidFill>
              </a:rPr>
              <a:t>把文档分词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comment_list</a:t>
            </a:r>
            <a:r>
              <a:rPr lang="en-GB" altLang="zh-CN" sz="1400" dirty="0"/>
              <a:t> = [</a:t>
            </a:r>
            <a:r>
              <a:rPr lang="en-GB" altLang="zh-CN" sz="1400" dirty="0">
                <a:solidFill>
                  <a:srgbClr val="067D17"/>
                </a:solidFill>
              </a:rPr>
              <a:t>','</a:t>
            </a:r>
            <a:r>
              <a:rPr lang="en-GB" altLang="zh-CN" sz="1400" dirty="0"/>
              <a:t>.join(</a:t>
            </a:r>
            <a:r>
              <a:rPr lang="en-GB" altLang="zh-CN" sz="1400" dirty="0" err="1"/>
              <a:t>jieba.lcut</a:t>
            </a:r>
            <a:r>
              <a:rPr lang="en-GB" altLang="zh-CN" sz="1400" dirty="0"/>
              <a:t>(line)) </a:t>
            </a:r>
            <a:r>
              <a:rPr lang="en-GB" altLang="zh-CN" sz="1400" dirty="0">
                <a:solidFill>
                  <a:srgbClr val="0033B3"/>
                </a:solidFill>
              </a:rPr>
              <a:t>for </a:t>
            </a:r>
            <a:r>
              <a:rPr lang="en-GB" altLang="zh-CN" sz="1400" dirty="0"/>
              <a:t>line </a:t>
            </a:r>
            <a:r>
              <a:rPr lang="en-GB" altLang="zh-CN" sz="1400" dirty="0">
                <a:solidFill>
                  <a:srgbClr val="0033B3"/>
                </a:solidFill>
              </a:rPr>
              <a:t>in </a:t>
            </a:r>
            <a:r>
              <a:rPr lang="en-GB" altLang="zh-CN" sz="1400" dirty="0" err="1"/>
              <a:t>data_df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zh-CN" altLang="en-US" sz="1400" dirty="0">
                <a:solidFill>
                  <a:srgbClr val="067D17"/>
                </a:solidFill>
              </a:rPr>
              <a:t>内容</a:t>
            </a:r>
            <a:r>
              <a:rPr lang="en-US" altLang="zh-CN" sz="1400" dirty="0">
                <a:solidFill>
                  <a:srgbClr val="067D17"/>
                </a:solidFill>
              </a:rPr>
              <a:t>'</a:t>
            </a:r>
            <a:r>
              <a:rPr lang="en-US" altLang="zh-CN" sz="1400" dirty="0"/>
              <a:t>]]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print('</a:t>
            </a:r>
            <a:r>
              <a:rPr lang="en-GB" altLang="zh-CN" sz="1400" i="1" dirty="0" err="1">
                <a:solidFill>
                  <a:srgbClr val="8C8C8C"/>
                </a:solidFill>
              </a:rPr>
              <a:t>comment_list</a:t>
            </a:r>
            <a:r>
              <a:rPr lang="en-GB" altLang="zh-CN" sz="1400" i="1" dirty="0">
                <a:solidFill>
                  <a:srgbClr val="8C8C8C"/>
                </a:solidFill>
              </a:rPr>
              <a:t>--&gt;\n', </a:t>
            </a:r>
            <a:r>
              <a:rPr lang="en-GB" altLang="zh-CN" sz="1400" i="1" dirty="0" err="1">
                <a:solidFill>
                  <a:srgbClr val="8C8C8C"/>
                </a:solidFill>
              </a:rPr>
              <a:t>comment_list</a:t>
            </a:r>
            <a:r>
              <a:rPr lang="en-GB" altLang="zh-CN" sz="1400" i="1" dirty="0">
                <a:solidFill>
                  <a:srgbClr val="8C8C8C"/>
                </a:solidFill>
              </a:rPr>
              <a:t>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# 2-4 </a:t>
            </a:r>
            <a:r>
              <a:rPr lang="zh-CN" altLang="en-US" sz="1400" i="1" dirty="0">
                <a:solidFill>
                  <a:srgbClr val="8C8C8C"/>
                </a:solidFill>
              </a:rPr>
              <a:t>统计词频矩阵 作为句子特征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transfer = </a:t>
            </a:r>
            <a:r>
              <a:rPr lang="en-GB" altLang="zh-CN" sz="1400" dirty="0" err="1"/>
              <a:t>CountVectorizer</a:t>
            </a:r>
            <a:r>
              <a:rPr lang="en-GB" altLang="zh-CN" sz="1400" dirty="0"/>
              <a:t>(</a:t>
            </a:r>
            <a:r>
              <a:rPr lang="en-GB" altLang="zh-CN" sz="1400" dirty="0" err="1">
                <a:solidFill>
                  <a:srgbClr val="660099"/>
                </a:solidFill>
              </a:rPr>
              <a:t>stop_words</a:t>
            </a:r>
            <a:r>
              <a:rPr lang="en-GB" altLang="zh-CN" sz="1400" dirty="0"/>
              <a:t>=</a:t>
            </a:r>
            <a:r>
              <a:rPr lang="en-GB" altLang="zh-CN" sz="1400" dirty="0" err="1"/>
              <a:t>stopwords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x = </a:t>
            </a:r>
            <a:r>
              <a:rPr lang="en-GB" altLang="zh-CN" sz="1400" dirty="0" err="1"/>
              <a:t>transfer.fit_transform</a:t>
            </a:r>
            <a:r>
              <a:rPr lang="en-GB" altLang="zh-CN" sz="1400" dirty="0"/>
              <a:t>(</a:t>
            </a:r>
            <a:r>
              <a:rPr lang="en-GB" altLang="zh-CN" sz="1400" dirty="0" err="1"/>
              <a:t>comment_list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mynames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transfer.get_feature_names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x = </a:t>
            </a:r>
            <a:r>
              <a:rPr lang="en-GB" altLang="zh-CN" sz="1400" dirty="0" err="1"/>
              <a:t>x.toarray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准备训练集测试集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x_train</a:t>
            </a:r>
            <a:r>
              <a:rPr lang="en-GB" altLang="zh-CN" sz="1400" dirty="0"/>
              <a:t> = x[:</a:t>
            </a:r>
            <a:r>
              <a:rPr lang="en-GB" altLang="zh-CN" sz="1400" dirty="0">
                <a:solidFill>
                  <a:srgbClr val="1750EB"/>
                </a:solidFill>
              </a:rPr>
              <a:t>10</a:t>
            </a:r>
            <a:r>
              <a:rPr lang="en-GB" altLang="zh-CN" sz="1400" dirty="0"/>
              <a:t>, :]     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准备训练集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y_train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y.values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1750EB"/>
                </a:solidFill>
              </a:rPr>
              <a:t>0</a:t>
            </a:r>
            <a:r>
              <a:rPr lang="en-GB" altLang="zh-CN" sz="1400" dirty="0"/>
              <a:t>:</a:t>
            </a:r>
            <a:r>
              <a:rPr lang="en-GB" altLang="zh-CN" sz="1400" dirty="0">
                <a:solidFill>
                  <a:srgbClr val="1750EB"/>
                </a:solidFill>
              </a:rPr>
              <a:t>10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x_test</a:t>
            </a:r>
            <a:r>
              <a:rPr lang="en-GB" altLang="zh-CN" sz="1400" dirty="0"/>
              <a:t> = x[</a:t>
            </a:r>
            <a:r>
              <a:rPr lang="en-GB" altLang="zh-CN" sz="1400" dirty="0">
                <a:solidFill>
                  <a:srgbClr val="1750EB"/>
                </a:solidFill>
              </a:rPr>
              <a:t>10</a:t>
            </a:r>
            <a:r>
              <a:rPr lang="en-GB" altLang="zh-CN" sz="1400" dirty="0"/>
              <a:t>:, :]      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准备测试集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y_test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y.values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1750EB"/>
                </a:solidFill>
              </a:rPr>
              <a:t>10</a:t>
            </a:r>
            <a:r>
              <a:rPr lang="en-GB" altLang="zh-CN" sz="1400" dirty="0"/>
              <a:t>:]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x_train.shape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</a:t>
            </a:r>
            <a:r>
              <a:rPr lang="en-GB" altLang="zh-CN" sz="1400" dirty="0" err="1"/>
              <a:t>x_train.shape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y_train.shape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</a:t>
            </a:r>
            <a:r>
              <a:rPr lang="en-GB" altLang="zh-CN" sz="1400" dirty="0" err="1"/>
              <a:t>y_train.shape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br>
              <a:rPr lang="en-GB" altLang="zh-CN" sz="1400" dirty="0"/>
            </a:b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381800" y="1418938"/>
            <a:ext cx="5729420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4 </a:t>
            </a:r>
            <a:r>
              <a:rPr lang="zh-CN" altLang="en-US" sz="1400" i="1" dirty="0">
                <a:solidFill>
                  <a:srgbClr val="8C8C8C"/>
                </a:solidFill>
              </a:rPr>
              <a:t>模型训练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4-1 </a:t>
            </a:r>
            <a:r>
              <a:rPr lang="zh-CN" altLang="en-US" sz="1400" i="1" dirty="0">
                <a:solidFill>
                  <a:srgbClr val="8C8C8C"/>
                </a:solidFill>
              </a:rPr>
              <a:t>实例化贝叶斯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添加拉普拉修正平滑参数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mymultinomialnb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MultinomialNB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mymultinomialnb.fit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x_train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y_train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4-2 </a:t>
            </a:r>
            <a:r>
              <a:rPr lang="zh-CN" altLang="en-US" sz="1400" i="1" dirty="0">
                <a:solidFill>
                  <a:srgbClr val="8C8C8C"/>
                </a:solidFill>
              </a:rPr>
              <a:t>模型预测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y_pred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mymultinomialnb.predict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x_test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zh-CN" altLang="en-US" sz="1400" dirty="0">
                <a:solidFill>
                  <a:srgbClr val="067D17"/>
                </a:solidFill>
              </a:rPr>
              <a:t>预测值</a:t>
            </a:r>
            <a:r>
              <a:rPr lang="en-US" altLang="zh-CN" sz="1400" dirty="0">
                <a:solidFill>
                  <a:srgbClr val="067D17"/>
                </a:solidFill>
              </a:rPr>
              <a:t>--&gt;'</a:t>
            </a:r>
            <a:r>
              <a:rPr lang="en-US" altLang="zh-CN" sz="1400" dirty="0"/>
              <a:t>, </a:t>
            </a:r>
            <a:r>
              <a:rPr lang="en-GB" altLang="zh-CN" sz="1400" dirty="0" err="1"/>
              <a:t>y_pred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zh-CN" altLang="en-US" sz="1400" dirty="0">
                <a:solidFill>
                  <a:srgbClr val="067D17"/>
                </a:solidFill>
              </a:rPr>
              <a:t>真实值</a:t>
            </a:r>
            <a:r>
              <a:rPr lang="en-US" altLang="zh-CN" sz="1400" dirty="0">
                <a:solidFill>
                  <a:srgbClr val="067D17"/>
                </a:solidFill>
              </a:rPr>
              <a:t>--&gt;'</a:t>
            </a:r>
            <a:r>
              <a:rPr lang="en-US" altLang="zh-CN" sz="1400" dirty="0"/>
              <a:t>, </a:t>
            </a:r>
            <a:r>
              <a:rPr lang="en-GB" altLang="zh-CN" sz="1400" dirty="0" err="1"/>
              <a:t>y_test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5 </a:t>
            </a:r>
            <a:r>
              <a:rPr lang="zh-CN" altLang="en-US" sz="1400" i="1" dirty="0">
                <a:solidFill>
                  <a:srgbClr val="8C8C8C"/>
                </a:solidFill>
              </a:rPr>
              <a:t>模型评估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 err="1"/>
              <a:t>myscore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mymultinomialnb.score</a:t>
            </a:r>
            <a:r>
              <a:rPr lang="en-GB" altLang="zh-CN" sz="1400" dirty="0"/>
              <a:t>(</a:t>
            </a:r>
            <a:r>
              <a:rPr lang="en-GB" altLang="zh-CN" sz="1400" dirty="0" err="1"/>
              <a:t>x_test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y_test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myscore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myscore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endParaRPr lang="en-GB" altLang="zh-CN" sz="1400" dirty="0"/>
          </a:p>
          <a:p>
            <a:pPr>
              <a:defRPr/>
            </a:pP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>
              <a:defRPr/>
            </a:pPr>
            <a:endParaRPr lang="en-GB" altLang="zh-CN" sz="1400" dirty="0">
              <a:solidFill>
                <a:prstClr val="black"/>
              </a:solidFill>
              <a:latin typeface="Calibri" panose="020F0502020204030204"/>
              <a:ea typeface="黑体" panose="02010609060101010101" pitchFamily="49" charset="-122"/>
            </a:endParaRPr>
          </a:p>
          <a:p>
            <a:pPr>
              <a:defRPr/>
            </a:pP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>
              <a:defRPr/>
            </a:pPr>
            <a:endParaRPr lang="en-GB" altLang="zh-CN" sz="1400" dirty="0">
              <a:solidFill>
                <a:prstClr val="black"/>
              </a:solidFill>
              <a:latin typeface="Calibri" panose="020F0502020204030204"/>
              <a:ea typeface="黑体" panose="02010609060101010101" pitchFamily="49" charset="-122"/>
            </a:endParaRPr>
          </a:p>
          <a:p>
            <a:pPr>
              <a:defRPr/>
            </a:pP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  <a:p>
            <a:pPr>
              <a:defRPr/>
            </a:pP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4013</Words>
  <Application>WPS 演示</Application>
  <PresentationFormat>宽屏</PresentationFormat>
  <Paragraphs>177</Paragraphs>
  <Slides>20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20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Medium</vt:lpstr>
      <vt:lpstr>Alibaba PuHuiTi M</vt:lpstr>
      <vt:lpstr>Segoe UI Light</vt:lpstr>
      <vt:lpstr>微软雅黑 Light</vt:lpstr>
      <vt:lpstr>Open Sans</vt:lpstr>
      <vt:lpstr>Segoe Print</vt:lpstr>
      <vt:lpstr>等线</vt:lpstr>
      <vt:lpstr>Cambria Math</vt:lpstr>
      <vt:lpstr>Arial Unicode MS</vt:lpstr>
      <vt:lpstr>Calibri</vt:lpstr>
      <vt:lpstr>Roboto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朴素贝叶斯</vt:lpstr>
      <vt:lpstr>PowerPoint 演示文稿</vt:lpstr>
      <vt:lpstr>PowerPoint 演示文稿</vt:lpstr>
      <vt:lpstr> 朴素贝叶斯算法-利用概率值进行分类的一种机器学习算法</vt:lpstr>
      <vt:lpstr> 朴素贝斯算法 – 概率数学基础复习</vt:lpstr>
      <vt:lpstr> 朴素贝斯算法 – 概率数学基础复习</vt:lpstr>
      <vt:lpstr> 朴素贝斯算法</vt:lpstr>
      <vt:lpstr> 朴素贝斯算法</vt:lpstr>
      <vt:lpstr> 朴素贝斯算法</vt:lpstr>
      <vt:lpstr>拉普拉斯平滑系数</vt:lpstr>
      <vt:lpstr>PowerPoint 演示文稿</vt:lpstr>
      <vt:lpstr>PowerPoint 演示文稿</vt:lpstr>
      <vt:lpstr>PowerPoint 演示文稿</vt:lpstr>
      <vt:lpstr>PowerPoint 演示文稿</vt:lpstr>
      <vt:lpstr> 案例：商品评论情感分析</vt:lpstr>
      <vt:lpstr> 商品评论情感分析</vt:lpstr>
      <vt:lpstr> 商品评论情感分析流程</vt:lpstr>
      <vt:lpstr>案例：商品评论情感分析</vt:lpstr>
      <vt:lpstr>案例：商品评论情感分析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老酒</cp:lastModifiedBy>
  <cp:revision>1549</cp:revision>
  <dcterms:created xsi:type="dcterms:W3CDTF">2020-03-31T02:23:00Z</dcterms:created>
  <dcterms:modified xsi:type="dcterms:W3CDTF">2025-04-14T16:15:54Z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FB7ABDAE88264C0CAAB6E799CC7DD480_12</vt:lpwstr>
  </property>
  <property fmtid="{D5CDD505-2E9C-101B-9397-08002B2CF9AE}" pid="3" name="KSOProductBuildVer">
    <vt:lpwstr>2052-12.1.0.20784</vt:lpwstr>
  </property>
</Properties>
</file>